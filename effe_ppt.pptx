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eg"/>
  <Default Extension="mp4" ContentType="video/mp4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44" d="100"/>
          <a:sy n="144" d="100"/>
        </p:scale>
        <p:origin x="654" y="12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9dbd1e2bf7_0_1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9dbd1e2bf7_0_10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9e76c0f00b_0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9e76c0f00b_0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9dbd1e2bf7_0_1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9dbd1e2bf7_0_10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9e76c0f00b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9e76c0f00b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9e76c0f00b_0_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9e76c0f00b_0_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9e76c0f00b_0_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39e76c0f00b_0_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9e76c0f00b_0_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39e76c0f00b_0_8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9e76c0f00b_0_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9e76c0f00b_0_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9e76c0f00b_0_1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9e76c0f00b_0_1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39e76c0f00b_0_2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" name="Google Shape;200;g39e76c0f00b_0_2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39e76c0f00b_0_2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9" name="Google Shape;209;g39e76c0f00b_0_2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9e76c0f00b_0_2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" name="Google Shape;219;g39e76c0f00b_0_28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39e76c0f00b_0_2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9" name="Google Shape;229;g39e76c0f00b_0_29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39e76c0f00b_0_3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9" name="Google Shape;239;g39e76c0f00b_0_30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39dbd1e2bf7_0_1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9" name="Google Shape;249;g39dbd1e2bf7_0_1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39dbd1e2bf7_0_1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39dbd1e2bf7_0_1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39dbd1e2bf7_0_1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39dbd1e2bf7_0_1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653238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2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dark-2">
    <p:bg>
      <p:bgPr>
        <a:blipFill>
          <a:blip r:embed="rId13">
            <a:alphaModFix/>
          </a:blip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Char char="●"/>
              <a:defRPr sz="1800">
                <a:solidFill>
                  <a:schemeClr val="lt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lt2"/>
                </a:solidFill>
              </a:defRPr>
            </a:lvl1pPr>
            <a:lvl2pPr lvl="1" algn="r">
              <a:buNone/>
              <a:defRPr sz="1000">
                <a:solidFill>
                  <a:schemeClr val="lt2"/>
                </a:solidFill>
              </a:defRPr>
            </a:lvl2pPr>
            <a:lvl3pPr lvl="2" algn="r">
              <a:buNone/>
              <a:defRPr sz="1000">
                <a:solidFill>
                  <a:schemeClr val="lt2"/>
                </a:solidFill>
              </a:defRPr>
            </a:lvl3pPr>
            <a:lvl4pPr lvl="3" algn="r">
              <a:buNone/>
              <a:defRPr sz="1000">
                <a:solidFill>
                  <a:schemeClr val="lt2"/>
                </a:solidFill>
              </a:defRPr>
            </a:lvl4pPr>
            <a:lvl5pPr lvl="4" algn="r">
              <a:buNone/>
              <a:defRPr sz="1000">
                <a:solidFill>
                  <a:schemeClr val="lt2"/>
                </a:solidFill>
              </a:defRPr>
            </a:lvl5pPr>
            <a:lvl6pPr lvl="5" algn="r">
              <a:buNone/>
              <a:defRPr sz="1000">
                <a:solidFill>
                  <a:schemeClr val="lt2"/>
                </a:solidFill>
              </a:defRPr>
            </a:lvl6pPr>
            <a:lvl7pPr lvl="6" algn="r">
              <a:buNone/>
              <a:defRPr sz="1000">
                <a:solidFill>
                  <a:schemeClr val="lt2"/>
                </a:solidFill>
              </a:defRPr>
            </a:lvl7pPr>
            <a:lvl8pPr lvl="7" algn="r">
              <a:buNone/>
              <a:defRPr sz="1000">
                <a:solidFill>
                  <a:schemeClr val="lt2"/>
                </a:solidFill>
              </a:defRPr>
            </a:lvl8pPr>
            <a:lvl9pPr lvl="8" algn="r">
              <a:buNone/>
              <a:defRPr sz="1000">
                <a:solidFill>
                  <a:schemeClr val="lt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image" Target="../media/image19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12" Type="http://schemas.openxmlformats.org/officeDocument/2006/relationships/image" Target="../media/image18.png"/><Relationship Id="rId17" Type="http://schemas.openxmlformats.org/officeDocument/2006/relationships/image" Target="../media/image23.png"/><Relationship Id="rId2" Type="http://schemas.openxmlformats.org/officeDocument/2006/relationships/notesSlide" Target="../notesSlides/notesSlide10.xml"/><Relationship Id="rId16" Type="http://schemas.openxmlformats.org/officeDocument/2006/relationships/image" Target="../media/image2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11" Type="http://schemas.openxmlformats.org/officeDocument/2006/relationships/image" Target="../media/image17.png"/><Relationship Id="rId5" Type="http://schemas.openxmlformats.org/officeDocument/2006/relationships/image" Target="../media/image11.png"/><Relationship Id="rId15" Type="http://schemas.openxmlformats.org/officeDocument/2006/relationships/image" Target="../media/image21.png"/><Relationship Id="rId10" Type="http://schemas.openxmlformats.org/officeDocument/2006/relationships/image" Target="../media/image16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Relationship Id="rId14" Type="http://schemas.openxmlformats.org/officeDocument/2006/relationships/image" Target="../media/image2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xugu0728.github.io/EFFE/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24.png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2.mp4"/><Relationship Id="rId1" Type="http://schemas.microsoft.com/office/2007/relationships/media" Target="../media/media2.mp4"/><Relationship Id="rId5" Type="http://schemas.openxmlformats.org/officeDocument/2006/relationships/image" Target="../media/image25.png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microsoft.com/office/2007/relationships/media" Target="../media/media4.mp4"/><Relationship Id="rId7" Type="http://schemas.openxmlformats.org/officeDocument/2006/relationships/image" Target="../media/image26.png"/><Relationship Id="rId2" Type="http://schemas.openxmlformats.org/officeDocument/2006/relationships/video" Target="../media/media3.mp4"/><Relationship Id="rId1" Type="http://schemas.microsoft.com/office/2007/relationships/media" Target="../media/media3.mp4"/><Relationship Id="rId6" Type="http://schemas.openxmlformats.org/officeDocument/2006/relationships/notesSlide" Target="../notesSlides/notesSlide14.xml"/><Relationship Id="rId5" Type="http://schemas.openxmlformats.org/officeDocument/2006/relationships/slideLayout" Target="../slideLayouts/slideLayout1.xml"/><Relationship Id="rId4" Type="http://schemas.openxmlformats.org/officeDocument/2006/relationships/video" Target="../media/media4.mp4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5.mp4"/><Relationship Id="rId1" Type="http://schemas.microsoft.com/office/2007/relationships/media" Target="../media/media5.mp4"/><Relationship Id="rId5" Type="http://schemas.openxmlformats.org/officeDocument/2006/relationships/image" Target="../media/image28.png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822901" y="1977025"/>
            <a:ext cx="7498200" cy="706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5조 : 최서하</a:t>
            </a:r>
            <a:endParaRPr/>
          </a:p>
        </p:txBody>
      </p:sp>
      <p:sp>
        <p:nvSpPr>
          <p:cNvPr id="55" name="Google Shape;55;p13"/>
          <p:cNvSpPr/>
          <p:nvPr/>
        </p:nvSpPr>
        <p:spPr>
          <a:xfrm>
            <a:off x="1350600" y="2776300"/>
            <a:ext cx="6442800" cy="31800"/>
          </a:xfrm>
          <a:prstGeom prst="rect">
            <a:avLst/>
          </a:prstGeom>
          <a:solidFill>
            <a:srgbClr val="E8E8E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>
            <a:spLocks noGrp="1"/>
          </p:cNvSpPr>
          <p:nvPr>
            <p:ph type="ctrTitle"/>
          </p:nvPr>
        </p:nvSpPr>
        <p:spPr>
          <a:xfrm>
            <a:off x="183975" y="42175"/>
            <a:ext cx="6262500" cy="57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600">
              <a:solidFill>
                <a:srgbClr val="E8E8E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2800">
                <a:solidFill>
                  <a:srgbClr val="E8E8E1"/>
                </a:solidFill>
              </a:rPr>
              <a:t>Contents</a:t>
            </a:r>
            <a:endParaRPr sz="2800">
              <a:solidFill>
                <a:srgbClr val="E8E8E1"/>
              </a:solidFill>
            </a:endParaRPr>
          </a:p>
        </p:txBody>
      </p:sp>
      <p:sp>
        <p:nvSpPr>
          <p:cNvPr id="61" name="Google Shape;61;p14"/>
          <p:cNvSpPr txBox="1">
            <a:spLocks noGrp="1"/>
          </p:cNvSpPr>
          <p:nvPr>
            <p:ph type="subTitle" idx="1"/>
          </p:nvPr>
        </p:nvSpPr>
        <p:spPr>
          <a:xfrm>
            <a:off x="443800" y="1493512"/>
            <a:ext cx="3084600" cy="330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E8E8E1"/>
              </a:buClr>
              <a:buSzPts val="1800"/>
              <a:buAutoNum type="arabicPeriod"/>
            </a:pPr>
            <a:r>
              <a:rPr lang="ko" sz="1800" dirty="0">
                <a:solidFill>
                  <a:srgbClr val="E8E8E1"/>
                </a:solidFill>
              </a:rPr>
              <a:t>프로젝트 소개</a:t>
            </a:r>
            <a:endParaRPr sz="1800" dirty="0">
              <a:solidFill>
                <a:srgbClr val="E8E8E1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E8E8E1"/>
              </a:buClr>
              <a:buSzPts val="1800"/>
              <a:buAutoNum type="arabicPeriod"/>
            </a:pPr>
            <a:r>
              <a:rPr lang="ko" sz="1800" dirty="0">
                <a:solidFill>
                  <a:srgbClr val="E8E8E1"/>
                </a:solidFill>
              </a:rPr>
              <a:t>상세기획 개요</a:t>
            </a:r>
            <a:endParaRPr sz="1800" dirty="0">
              <a:solidFill>
                <a:srgbClr val="E8E8E1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E8E8E1"/>
              </a:buClr>
              <a:buSzPts val="1800"/>
              <a:buAutoNum type="arabicPeriod"/>
            </a:pPr>
            <a:r>
              <a:rPr lang="ko" sz="1800" dirty="0">
                <a:solidFill>
                  <a:srgbClr val="E8E8E1"/>
                </a:solidFill>
              </a:rPr>
              <a:t>기능소개</a:t>
            </a:r>
            <a:endParaRPr sz="1800" dirty="0">
              <a:solidFill>
                <a:srgbClr val="E8E8E1"/>
              </a:solidFill>
            </a:endParaRPr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Clr>
                <a:srgbClr val="E8E8E1"/>
              </a:buClr>
              <a:buSzPts val="1800"/>
              <a:buAutoNum type="alphaLcPeriod"/>
            </a:pPr>
            <a:r>
              <a:rPr lang="ko" sz="1800" dirty="0">
                <a:solidFill>
                  <a:srgbClr val="E8E8E1"/>
                </a:solidFill>
              </a:rPr>
              <a:t>스크린체인지</a:t>
            </a:r>
            <a:endParaRPr sz="1800" dirty="0">
              <a:solidFill>
                <a:srgbClr val="E8E8E1"/>
              </a:solidFill>
            </a:endParaRPr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Clr>
                <a:srgbClr val="E8E8E1"/>
              </a:buClr>
              <a:buSzPts val="1800"/>
              <a:buAutoNum type="alphaLcPeriod"/>
            </a:pPr>
            <a:r>
              <a:rPr lang="ko" sz="1800" dirty="0">
                <a:solidFill>
                  <a:srgbClr val="E8E8E1"/>
                </a:solidFill>
              </a:rPr>
              <a:t>랜덤향수추천</a:t>
            </a:r>
            <a:endParaRPr sz="1800" dirty="0">
              <a:solidFill>
                <a:srgbClr val="E8E8E1"/>
              </a:solidFill>
            </a:endParaRPr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Clr>
                <a:srgbClr val="E8E8E1"/>
              </a:buClr>
              <a:buSzPts val="1800"/>
              <a:buAutoNum type="alphaLcPeriod"/>
            </a:pPr>
            <a:r>
              <a:rPr lang="ko" sz="1800" dirty="0">
                <a:solidFill>
                  <a:srgbClr val="E8E8E1"/>
                </a:solidFill>
              </a:rPr>
              <a:t>메일전송(</a:t>
            </a:r>
            <a:r>
              <a:rPr lang="ko" sz="1800" dirty="0" smtClean="0">
                <a:solidFill>
                  <a:srgbClr val="E8E8E1"/>
                </a:solidFill>
              </a:rPr>
              <a:t>서버)</a:t>
            </a:r>
            <a:endParaRPr sz="1800" dirty="0">
              <a:solidFill>
                <a:srgbClr val="E8E8E1"/>
              </a:solidFill>
            </a:endParaRPr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Clr>
                <a:srgbClr val="E8E8E1"/>
              </a:buClr>
              <a:buSzPts val="1800"/>
              <a:buAutoNum type="alphaLcPeriod"/>
            </a:pPr>
            <a:r>
              <a:rPr lang="ko" sz="1800" dirty="0">
                <a:solidFill>
                  <a:srgbClr val="E8E8E1"/>
                </a:solidFill>
              </a:rPr>
              <a:t>실시간길찾기</a:t>
            </a:r>
            <a:endParaRPr sz="1800" dirty="0">
              <a:solidFill>
                <a:srgbClr val="E8E8E1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E8E8E1"/>
              </a:buClr>
              <a:buSzPts val="1800"/>
              <a:buAutoNum type="arabicPeriod"/>
            </a:pPr>
            <a:r>
              <a:rPr lang="ko" sz="1800" dirty="0">
                <a:solidFill>
                  <a:srgbClr val="E8E8E1"/>
                </a:solidFill>
              </a:rPr>
              <a:t>마무리</a:t>
            </a:r>
            <a:endParaRPr sz="1800" dirty="0">
              <a:solidFill>
                <a:srgbClr val="E8E8E1"/>
              </a:solidFill>
            </a:endParaRPr>
          </a:p>
        </p:txBody>
      </p:sp>
      <p:sp>
        <p:nvSpPr>
          <p:cNvPr id="62" name="Google Shape;62;p14"/>
          <p:cNvSpPr/>
          <p:nvPr/>
        </p:nvSpPr>
        <p:spPr>
          <a:xfrm>
            <a:off x="3550" y="583925"/>
            <a:ext cx="6442800" cy="31800"/>
          </a:xfrm>
          <a:prstGeom prst="rect">
            <a:avLst/>
          </a:prstGeom>
          <a:solidFill>
            <a:srgbClr val="E8E8E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" name="Google Shape;63;p14"/>
          <p:cNvSpPr/>
          <p:nvPr/>
        </p:nvSpPr>
        <p:spPr>
          <a:xfrm>
            <a:off x="329175" y="1392374"/>
            <a:ext cx="3129900" cy="2551500"/>
          </a:xfrm>
          <a:prstGeom prst="rect">
            <a:avLst/>
          </a:prstGeom>
          <a:noFill/>
          <a:ln w="9525" cap="flat" cmpd="sng">
            <a:solidFill>
              <a:srgbClr val="E8E8E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" name="Google Shape;64;p14"/>
          <p:cNvSpPr/>
          <p:nvPr/>
        </p:nvSpPr>
        <p:spPr>
          <a:xfrm>
            <a:off x="361251" y="1430460"/>
            <a:ext cx="3129900" cy="2551500"/>
          </a:xfrm>
          <a:prstGeom prst="rect">
            <a:avLst/>
          </a:prstGeom>
          <a:noFill/>
          <a:ln w="9525" cap="flat" cmpd="sng">
            <a:solidFill>
              <a:srgbClr val="E8E8E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 txBox="1">
            <a:spLocks noGrp="1"/>
          </p:cNvSpPr>
          <p:nvPr>
            <p:ph type="ctrTitle"/>
          </p:nvPr>
        </p:nvSpPr>
        <p:spPr>
          <a:xfrm>
            <a:off x="183975" y="42175"/>
            <a:ext cx="6262500" cy="57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600"/>
          </a:p>
          <a:p>
            <a:pPr marL="457200" lvl="0" indent="-406400" algn="l" rtl="0">
              <a:spcBef>
                <a:spcPts val="0"/>
              </a:spcBef>
              <a:spcAft>
                <a:spcPts val="0"/>
              </a:spcAft>
              <a:buSzPts val="2800"/>
              <a:buAutoNum type="arabicPeriod"/>
            </a:pPr>
            <a:r>
              <a:rPr lang="ko" sz="2800"/>
              <a:t>프로젝트 소개</a:t>
            </a:r>
            <a:endParaRPr sz="2800"/>
          </a:p>
        </p:txBody>
      </p:sp>
      <p:sp>
        <p:nvSpPr>
          <p:cNvPr id="70" name="Google Shape;70;p15"/>
          <p:cNvSpPr/>
          <p:nvPr/>
        </p:nvSpPr>
        <p:spPr>
          <a:xfrm>
            <a:off x="3550" y="583925"/>
            <a:ext cx="6442800" cy="31800"/>
          </a:xfrm>
          <a:prstGeom prst="rect">
            <a:avLst/>
          </a:prstGeom>
          <a:solidFill>
            <a:srgbClr val="E8E8E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" name="Google Shape;71;p15"/>
          <p:cNvSpPr/>
          <p:nvPr/>
        </p:nvSpPr>
        <p:spPr>
          <a:xfrm>
            <a:off x="235175" y="821225"/>
            <a:ext cx="1947600" cy="453300"/>
          </a:xfrm>
          <a:prstGeom prst="rect">
            <a:avLst/>
          </a:prstGeom>
          <a:solidFill>
            <a:srgbClr val="E8E8E1"/>
          </a:solidFill>
          <a:ln w="9525" cap="flat" cmpd="sng">
            <a:solidFill>
              <a:srgbClr val="E8E8E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Concept 기획</a:t>
            </a:r>
            <a:endParaRPr/>
          </a:p>
        </p:txBody>
      </p:sp>
      <p:sp>
        <p:nvSpPr>
          <p:cNvPr id="72" name="Google Shape;72;p15"/>
          <p:cNvSpPr/>
          <p:nvPr/>
        </p:nvSpPr>
        <p:spPr>
          <a:xfrm>
            <a:off x="235175" y="1516336"/>
            <a:ext cx="1947600" cy="453300"/>
          </a:xfrm>
          <a:prstGeom prst="rect">
            <a:avLst/>
          </a:prstGeom>
          <a:solidFill>
            <a:srgbClr val="E8E8E1"/>
          </a:solidFill>
          <a:ln w="9525" cap="flat" cmpd="sng">
            <a:solidFill>
              <a:srgbClr val="E8E8E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Research &amp; Planning</a:t>
            </a:r>
            <a:endParaRPr/>
          </a:p>
        </p:txBody>
      </p:sp>
      <p:cxnSp>
        <p:nvCxnSpPr>
          <p:cNvPr id="73" name="Google Shape;73;p15"/>
          <p:cNvCxnSpPr>
            <a:stCxn id="71" idx="2"/>
            <a:endCxn id="72" idx="0"/>
          </p:cNvCxnSpPr>
          <p:nvPr/>
        </p:nvCxnSpPr>
        <p:spPr>
          <a:xfrm>
            <a:off x="1208975" y="1274525"/>
            <a:ext cx="0" cy="241800"/>
          </a:xfrm>
          <a:prstGeom prst="straightConnector1">
            <a:avLst/>
          </a:prstGeom>
          <a:noFill/>
          <a:ln w="9525" cap="flat" cmpd="sng">
            <a:solidFill>
              <a:srgbClr val="F7F7F7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74" name="Google Shape;74;p15"/>
          <p:cNvSpPr txBox="1">
            <a:spLocks noGrp="1"/>
          </p:cNvSpPr>
          <p:nvPr>
            <p:ph type="subTitle" idx="1"/>
          </p:nvPr>
        </p:nvSpPr>
        <p:spPr>
          <a:xfrm>
            <a:off x="2408750" y="821225"/>
            <a:ext cx="6471600" cy="4533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295275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050"/>
              <a:buFont typeface="Consolas"/>
              <a:buChar char="●"/>
            </a:pPr>
            <a:r>
              <a:rPr lang="ko" sz="105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목표설정(사이트 목적과 사용자 경험 정의) 및 유사 사이트 조사</a:t>
            </a:r>
            <a:endParaRPr/>
          </a:p>
        </p:txBody>
      </p:sp>
      <p:sp>
        <p:nvSpPr>
          <p:cNvPr id="75" name="Google Shape;75;p15"/>
          <p:cNvSpPr/>
          <p:nvPr/>
        </p:nvSpPr>
        <p:spPr>
          <a:xfrm>
            <a:off x="235175" y="2211505"/>
            <a:ext cx="1947600" cy="453300"/>
          </a:xfrm>
          <a:prstGeom prst="rect">
            <a:avLst/>
          </a:prstGeom>
          <a:solidFill>
            <a:srgbClr val="E8E8E1"/>
          </a:solidFill>
          <a:ln w="9525" cap="flat" cmpd="sng">
            <a:solidFill>
              <a:srgbClr val="E8E8E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Design Concept</a:t>
            </a:r>
            <a:endParaRPr/>
          </a:p>
        </p:txBody>
      </p:sp>
      <p:cxnSp>
        <p:nvCxnSpPr>
          <p:cNvPr id="76" name="Google Shape;76;p15"/>
          <p:cNvCxnSpPr>
            <a:endCxn id="75" idx="0"/>
          </p:cNvCxnSpPr>
          <p:nvPr/>
        </p:nvCxnSpPr>
        <p:spPr>
          <a:xfrm>
            <a:off x="1208975" y="2006005"/>
            <a:ext cx="0" cy="205500"/>
          </a:xfrm>
          <a:prstGeom prst="straightConnector1">
            <a:avLst/>
          </a:prstGeom>
          <a:noFill/>
          <a:ln w="9525" cap="flat" cmpd="sng">
            <a:solidFill>
              <a:srgbClr val="F7F7F7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77" name="Google Shape;77;p15"/>
          <p:cNvSpPr/>
          <p:nvPr/>
        </p:nvSpPr>
        <p:spPr>
          <a:xfrm>
            <a:off x="235175" y="2906616"/>
            <a:ext cx="1947600" cy="453300"/>
          </a:xfrm>
          <a:prstGeom prst="rect">
            <a:avLst/>
          </a:prstGeom>
          <a:solidFill>
            <a:srgbClr val="E8E8E1"/>
          </a:solidFill>
          <a:ln w="9525" cap="flat" cmpd="sng">
            <a:solidFill>
              <a:srgbClr val="E8E8E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Front-End Develop.</a:t>
            </a:r>
            <a:endParaRPr/>
          </a:p>
        </p:txBody>
      </p:sp>
      <p:cxnSp>
        <p:nvCxnSpPr>
          <p:cNvPr id="78" name="Google Shape;78;p15"/>
          <p:cNvCxnSpPr>
            <a:endCxn id="77" idx="0"/>
          </p:cNvCxnSpPr>
          <p:nvPr/>
        </p:nvCxnSpPr>
        <p:spPr>
          <a:xfrm>
            <a:off x="1208975" y="2701116"/>
            <a:ext cx="0" cy="205500"/>
          </a:xfrm>
          <a:prstGeom prst="straightConnector1">
            <a:avLst/>
          </a:prstGeom>
          <a:noFill/>
          <a:ln w="9525" cap="flat" cmpd="sng">
            <a:solidFill>
              <a:srgbClr val="F7F7F7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79" name="Google Shape;79;p15"/>
          <p:cNvSpPr/>
          <p:nvPr/>
        </p:nvSpPr>
        <p:spPr>
          <a:xfrm>
            <a:off x="235175" y="3601727"/>
            <a:ext cx="1947600" cy="453300"/>
          </a:xfrm>
          <a:prstGeom prst="rect">
            <a:avLst/>
          </a:prstGeom>
          <a:solidFill>
            <a:srgbClr val="E8E8E1"/>
          </a:solidFill>
          <a:ln w="9525" cap="flat" cmpd="sng">
            <a:solidFill>
              <a:srgbClr val="E8E8E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Testing &amp; Refinement</a:t>
            </a:r>
            <a:endParaRPr/>
          </a:p>
        </p:txBody>
      </p:sp>
      <p:cxnSp>
        <p:nvCxnSpPr>
          <p:cNvPr id="80" name="Google Shape;80;p15"/>
          <p:cNvCxnSpPr>
            <a:endCxn id="79" idx="0"/>
          </p:cNvCxnSpPr>
          <p:nvPr/>
        </p:nvCxnSpPr>
        <p:spPr>
          <a:xfrm>
            <a:off x="1208975" y="3396227"/>
            <a:ext cx="0" cy="205500"/>
          </a:xfrm>
          <a:prstGeom prst="straightConnector1">
            <a:avLst/>
          </a:prstGeom>
          <a:noFill/>
          <a:ln w="9525" cap="flat" cmpd="sng">
            <a:solidFill>
              <a:srgbClr val="F7F7F7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81" name="Google Shape;81;p15"/>
          <p:cNvSpPr/>
          <p:nvPr/>
        </p:nvSpPr>
        <p:spPr>
          <a:xfrm>
            <a:off x="235175" y="4296837"/>
            <a:ext cx="1947600" cy="453300"/>
          </a:xfrm>
          <a:prstGeom prst="rect">
            <a:avLst/>
          </a:prstGeom>
          <a:solidFill>
            <a:srgbClr val="E8E8E1"/>
          </a:solidFill>
          <a:ln w="9525" cap="flat" cmpd="sng">
            <a:solidFill>
              <a:srgbClr val="E8E8E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Completion &amp; Launch</a:t>
            </a:r>
            <a:endParaRPr/>
          </a:p>
        </p:txBody>
      </p:sp>
      <p:cxnSp>
        <p:nvCxnSpPr>
          <p:cNvPr id="82" name="Google Shape;82;p15"/>
          <p:cNvCxnSpPr>
            <a:endCxn id="81" idx="0"/>
          </p:cNvCxnSpPr>
          <p:nvPr/>
        </p:nvCxnSpPr>
        <p:spPr>
          <a:xfrm>
            <a:off x="1208975" y="4091337"/>
            <a:ext cx="0" cy="205500"/>
          </a:xfrm>
          <a:prstGeom prst="straightConnector1">
            <a:avLst/>
          </a:prstGeom>
          <a:noFill/>
          <a:ln w="9525" cap="flat" cmpd="sng">
            <a:solidFill>
              <a:srgbClr val="F7F7F7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83" name="Google Shape;83;p15"/>
          <p:cNvSpPr txBox="1">
            <a:spLocks noGrp="1"/>
          </p:cNvSpPr>
          <p:nvPr>
            <p:ph type="subTitle" idx="1"/>
          </p:nvPr>
        </p:nvSpPr>
        <p:spPr>
          <a:xfrm>
            <a:off x="2408750" y="1456250"/>
            <a:ext cx="6471600" cy="6120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457200" lvl="0" indent="-295275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050"/>
              <a:buFont typeface="Consolas"/>
              <a:buChar char="●"/>
            </a:pPr>
            <a:r>
              <a:rPr lang="ko" sz="105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향수 브랜드 리서치 및 타깃 브랜드 설정, 자료수집과 선별</a:t>
            </a:r>
            <a:endParaRPr sz="1050">
              <a:solidFill>
                <a:srgbClr val="CCCC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-295275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050"/>
              <a:buFont typeface="Consolas"/>
              <a:buChar char="●"/>
            </a:pPr>
            <a:r>
              <a:rPr lang="ko" sz="105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페이지 구획별 와이어프레임 설계</a:t>
            </a:r>
            <a:endParaRPr sz="1050">
              <a:solidFill>
                <a:srgbClr val="CCCCCC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84" name="Google Shape;84;p15"/>
          <p:cNvSpPr txBox="1">
            <a:spLocks noGrp="1"/>
          </p:cNvSpPr>
          <p:nvPr>
            <p:ph type="subTitle" idx="1"/>
          </p:nvPr>
        </p:nvSpPr>
        <p:spPr>
          <a:xfrm>
            <a:off x="2408750" y="2132150"/>
            <a:ext cx="6471600" cy="6120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457200" lvl="0" indent="-295275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050"/>
              <a:buFont typeface="Consolas"/>
              <a:buChar char="●"/>
            </a:pPr>
            <a:r>
              <a:rPr lang="ko" sz="105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브랜드 및 향수별 컬러, 폰트, 키워드 등 스타일 가이드 제작</a:t>
            </a:r>
            <a:endParaRPr sz="1050">
              <a:solidFill>
                <a:srgbClr val="CCCC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-295275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050"/>
              <a:buFont typeface="Consolas"/>
              <a:buChar char="●"/>
            </a:pPr>
            <a:r>
              <a:rPr lang="ko" sz="105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시각적 효과를 포함한 페이지별 디자인 레이아웃 구상</a:t>
            </a:r>
            <a:endParaRPr sz="1050">
              <a:solidFill>
                <a:srgbClr val="CCCCCC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85" name="Google Shape;85;p15"/>
          <p:cNvSpPr txBox="1">
            <a:spLocks noGrp="1"/>
          </p:cNvSpPr>
          <p:nvPr>
            <p:ph type="subTitle" idx="1"/>
          </p:nvPr>
        </p:nvSpPr>
        <p:spPr>
          <a:xfrm>
            <a:off x="2408750" y="2808050"/>
            <a:ext cx="6471600" cy="6120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457200" lvl="0" indent="-295275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050"/>
              <a:buFont typeface="Consolas"/>
              <a:buChar char="●"/>
            </a:pPr>
            <a:r>
              <a:rPr lang="ko" sz="105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HTML/CSS 구조 작성</a:t>
            </a:r>
            <a:endParaRPr sz="1050">
              <a:solidFill>
                <a:srgbClr val="CCCC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-295275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050"/>
              <a:buFont typeface="Consolas"/>
              <a:buChar char="●"/>
            </a:pPr>
            <a:r>
              <a:rPr lang="ko" sz="105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JavaScript 기능 구현 (애니메이션, 이벤트 등)</a:t>
            </a:r>
            <a:endParaRPr sz="1050">
              <a:solidFill>
                <a:srgbClr val="CCCCCC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86" name="Google Shape;86;p15"/>
          <p:cNvSpPr txBox="1">
            <a:spLocks noGrp="1"/>
          </p:cNvSpPr>
          <p:nvPr>
            <p:ph type="subTitle" idx="1"/>
          </p:nvPr>
        </p:nvSpPr>
        <p:spPr>
          <a:xfrm>
            <a:off x="2408750" y="3522375"/>
            <a:ext cx="6471600" cy="6120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rmAutofit fontScale="85000" lnSpcReduction="10000"/>
          </a:bodyPr>
          <a:lstStyle/>
          <a:p>
            <a:pPr marL="457200" lvl="0" indent="-290274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ct val="100000"/>
              <a:buFont typeface="Consolas"/>
              <a:buChar char="●"/>
            </a:pPr>
            <a:r>
              <a:rPr lang="ko" sz="105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레이아웃 / 애니메이션 오류 및 세부수정</a:t>
            </a:r>
            <a:endParaRPr sz="1050">
              <a:solidFill>
                <a:srgbClr val="CCCC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-290274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ct val="100000"/>
              <a:buFont typeface="Consolas"/>
              <a:buChar char="●"/>
            </a:pPr>
            <a:r>
              <a:rPr lang="ko" sz="105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이미지 리사이징, js 로딩 순서를 최적화하여 페이지 렌더링 속도를 높이고 사용자 경험을 부드럽게 개선</a:t>
            </a:r>
            <a:endParaRPr sz="1050">
              <a:solidFill>
                <a:srgbClr val="CCCCCC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87" name="Google Shape;87;p15"/>
          <p:cNvSpPr txBox="1">
            <a:spLocks noGrp="1"/>
          </p:cNvSpPr>
          <p:nvPr>
            <p:ph type="subTitle" idx="1"/>
          </p:nvPr>
        </p:nvSpPr>
        <p:spPr>
          <a:xfrm>
            <a:off x="2408750" y="4217475"/>
            <a:ext cx="6471600" cy="6120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457200" lvl="0" indent="-295275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050"/>
              <a:buFont typeface="Consolas"/>
              <a:buChar char="●"/>
            </a:pPr>
            <a:r>
              <a:rPr lang="ko" sz="105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GitHub Pages 배포</a:t>
            </a:r>
            <a:endParaRPr sz="1050">
              <a:solidFill>
                <a:srgbClr val="CCCC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-295275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050"/>
              <a:buFont typeface="Consolas"/>
              <a:buChar char="●"/>
            </a:pPr>
            <a:r>
              <a:rPr lang="ko" sz="105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최종 확인 및 QA 완료</a:t>
            </a:r>
            <a:endParaRPr sz="1050">
              <a:solidFill>
                <a:srgbClr val="CCCCCC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6"/>
          <p:cNvSpPr txBox="1">
            <a:spLocks noGrp="1"/>
          </p:cNvSpPr>
          <p:nvPr>
            <p:ph type="ctrTitle"/>
          </p:nvPr>
        </p:nvSpPr>
        <p:spPr>
          <a:xfrm>
            <a:off x="183975" y="42175"/>
            <a:ext cx="6262500" cy="57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600" dirty="0"/>
          </a:p>
          <a:p>
            <a:pPr marL="457200" lvl="0" indent="-406400" algn="l" rtl="0">
              <a:spcBef>
                <a:spcPts val="0"/>
              </a:spcBef>
              <a:spcAft>
                <a:spcPts val="0"/>
              </a:spcAft>
              <a:buSzPts val="2800"/>
              <a:buAutoNum type="arabicPeriod"/>
            </a:pPr>
            <a:r>
              <a:rPr lang="ko" sz="2800" dirty="0"/>
              <a:t>프로젝트 </a:t>
            </a:r>
            <a:r>
              <a:rPr lang="ko" sz="2800" dirty="0" smtClean="0"/>
              <a:t>소개</a:t>
            </a:r>
            <a:endParaRPr sz="2800" dirty="0"/>
          </a:p>
        </p:txBody>
      </p:sp>
      <p:sp>
        <p:nvSpPr>
          <p:cNvPr id="93" name="Google Shape;93;p16"/>
          <p:cNvSpPr/>
          <p:nvPr/>
        </p:nvSpPr>
        <p:spPr>
          <a:xfrm>
            <a:off x="3550" y="583925"/>
            <a:ext cx="6442800" cy="31800"/>
          </a:xfrm>
          <a:prstGeom prst="rect">
            <a:avLst/>
          </a:prstGeom>
          <a:solidFill>
            <a:srgbClr val="E8E8E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16"/>
          <p:cNvSpPr/>
          <p:nvPr/>
        </p:nvSpPr>
        <p:spPr>
          <a:xfrm>
            <a:off x="5030000" y="1347200"/>
            <a:ext cx="2231100" cy="2231100"/>
          </a:xfrm>
          <a:prstGeom prst="ellipse">
            <a:avLst/>
          </a:prstGeom>
          <a:solidFill>
            <a:srgbClr val="F7F7F7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" name="Google Shape;95;p16"/>
          <p:cNvSpPr/>
          <p:nvPr/>
        </p:nvSpPr>
        <p:spPr>
          <a:xfrm>
            <a:off x="1462575" y="1347200"/>
            <a:ext cx="2231100" cy="2231100"/>
          </a:xfrm>
          <a:prstGeom prst="ellipse">
            <a:avLst/>
          </a:prstGeom>
          <a:solidFill>
            <a:srgbClr val="F7F7F7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96" name="Google Shape;96;p16" title="1198409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20250" y="1680900"/>
            <a:ext cx="1650600" cy="1650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6" title="perfume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59125" y="1442075"/>
            <a:ext cx="1990576" cy="1990576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6"/>
          <p:cNvSpPr txBox="1"/>
          <p:nvPr/>
        </p:nvSpPr>
        <p:spPr>
          <a:xfrm>
            <a:off x="4063988" y="2013600"/>
            <a:ext cx="500400" cy="98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5200">
                <a:solidFill>
                  <a:srgbClr val="F7F7F7"/>
                </a:solidFill>
              </a:rPr>
              <a:t>+</a:t>
            </a:r>
            <a:endParaRPr sz="5200">
              <a:solidFill>
                <a:srgbClr val="F7F7F7"/>
              </a:solidFill>
            </a:endParaRPr>
          </a:p>
        </p:txBody>
      </p:sp>
      <p:sp>
        <p:nvSpPr>
          <p:cNvPr id="99" name="Google Shape;99;p16"/>
          <p:cNvSpPr txBox="1">
            <a:spLocks noGrp="1"/>
          </p:cNvSpPr>
          <p:nvPr>
            <p:ph type="subTitle" idx="1"/>
          </p:nvPr>
        </p:nvSpPr>
        <p:spPr>
          <a:xfrm>
            <a:off x="359600" y="3773100"/>
            <a:ext cx="8520600" cy="13704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“스타일과 향이 맞닿는 순간, 패션은 피부가 되고, 향은 시선이 된다.”</a:t>
            </a:r>
            <a:endParaRPr sz="1050">
              <a:solidFill>
                <a:srgbClr val="CCCC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ctr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50">
              <a:solidFill>
                <a:srgbClr val="CCCC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ctr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다양한 브랜드 및 해당 브랜드의 향수들, 스타일링에 대한 정보를 전달함으로써</a:t>
            </a:r>
            <a:endParaRPr sz="1050">
              <a:solidFill>
                <a:srgbClr val="CCCC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ctr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판매촉진을 유도하고자하는 매거진 컨셉의 웹사이트입니다.</a:t>
            </a:r>
            <a:endParaRPr sz="1050">
              <a:solidFill>
                <a:srgbClr val="CCCCCC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0" name="Google Shape;116;p18"/>
          <p:cNvSpPr txBox="1"/>
          <p:nvPr/>
        </p:nvSpPr>
        <p:spPr>
          <a:xfrm>
            <a:off x="2428538" y="595445"/>
            <a:ext cx="3771300" cy="6869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2400" dirty="0" smtClean="0">
                <a:solidFill>
                  <a:srgbClr val="F7F7F7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n-US" altLang="ko" sz="2400" dirty="0" smtClean="0">
                <a:solidFill>
                  <a:srgbClr val="F7F7F7"/>
                </a:solidFill>
                <a:latin typeface="Consolas"/>
                <a:ea typeface="Consolas"/>
                <a:cs typeface="Consolas"/>
                <a:sym typeface="Consolas"/>
              </a:rPr>
              <a:t>Project Concept</a:t>
            </a:r>
            <a:r>
              <a:rPr lang="ko" sz="2400" dirty="0" smtClean="0">
                <a:solidFill>
                  <a:srgbClr val="F7F7F7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2400" dirty="0">
              <a:solidFill>
                <a:srgbClr val="F7F7F7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7"/>
          <p:cNvSpPr txBox="1">
            <a:spLocks noGrp="1"/>
          </p:cNvSpPr>
          <p:nvPr>
            <p:ph type="ctrTitle"/>
          </p:nvPr>
        </p:nvSpPr>
        <p:spPr>
          <a:xfrm>
            <a:off x="183975" y="42175"/>
            <a:ext cx="6262500" cy="57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600"/>
          </a:p>
          <a:p>
            <a:pPr marL="457200" lvl="0" indent="-406400" algn="l" rtl="0">
              <a:spcBef>
                <a:spcPts val="0"/>
              </a:spcBef>
              <a:spcAft>
                <a:spcPts val="0"/>
              </a:spcAft>
              <a:buSzPts val="2800"/>
              <a:buAutoNum type="arabicPeriod"/>
            </a:pPr>
            <a:r>
              <a:rPr lang="ko" sz="2800"/>
              <a:t>프로젝트 소개</a:t>
            </a:r>
            <a:endParaRPr sz="2800"/>
          </a:p>
        </p:txBody>
      </p:sp>
      <p:sp>
        <p:nvSpPr>
          <p:cNvPr id="105" name="Google Shape;105;p17"/>
          <p:cNvSpPr txBox="1">
            <a:spLocks noGrp="1"/>
          </p:cNvSpPr>
          <p:nvPr>
            <p:ph type="subTitle" idx="1"/>
          </p:nvPr>
        </p:nvSpPr>
        <p:spPr>
          <a:xfrm>
            <a:off x="359600" y="3716311"/>
            <a:ext cx="8520600" cy="11310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 dirty="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effe는 Fragrance, Fashion, Feeling의 'F'를 의미합니다.</a:t>
            </a:r>
            <a:endParaRPr sz="1050" dirty="0">
              <a:solidFill>
                <a:srgbClr val="CCCC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ctr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 dirty="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향수와 스타일, 그리고 감각적 경험이 만들어내는</a:t>
            </a:r>
            <a:endParaRPr sz="1050" dirty="0">
              <a:solidFill>
                <a:srgbClr val="80808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ctr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50" dirty="0" smtClean="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그 </a:t>
            </a:r>
            <a:r>
              <a:rPr lang="ko" sz="1050" dirty="0" smtClean="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순간과 </a:t>
            </a:r>
            <a:r>
              <a:rPr lang="ko" sz="1050" dirty="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스타일을 담아내는 것이 </a:t>
            </a:r>
            <a:r>
              <a:rPr lang="en-US" altLang="ko" sz="1050" dirty="0" err="1" smtClean="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effe</a:t>
            </a:r>
            <a:r>
              <a:rPr lang="ko" sz="1050" dirty="0" smtClean="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의 </a:t>
            </a:r>
            <a:r>
              <a:rPr lang="ko" sz="1050" dirty="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정체성입니다.</a:t>
            </a:r>
            <a:endParaRPr dirty="0"/>
          </a:p>
        </p:txBody>
      </p:sp>
      <p:sp>
        <p:nvSpPr>
          <p:cNvPr id="106" name="Google Shape;106;p17"/>
          <p:cNvSpPr/>
          <p:nvPr/>
        </p:nvSpPr>
        <p:spPr>
          <a:xfrm>
            <a:off x="3550" y="583925"/>
            <a:ext cx="6442800" cy="31800"/>
          </a:xfrm>
          <a:prstGeom prst="rect">
            <a:avLst/>
          </a:prstGeom>
          <a:solidFill>
            <a:srgbClr val="E8E8E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" name="Google Shape;107;p17"/>
          <p:cNvSpPr/>
          <p:nvPr/>
        </p:nvSpPr>
        <p:spPr>
          <a:xfrm>
            <a:off x="2025625" y="1357261"/>
            <a:ext cx="5118900" cy="2107200"/>
          </a:xfrm>
          <a:prstGeom prst="rect">
            <a:avLst/>
          </a:prstGeom>
          <a:solidFill>
            <a:srgbClr val="262626"/>
          </a:solidFill>
          <a:ln w="9525" cap="flat" cmpd="sng">
            <a:solidFill>
              <a:srgbClr val="E8E8E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08" name="Google Shape;108;p17" title="logo_whit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69863" y="1438861"/>
            <a:ext cx="5004266" cy="187660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116;p18"/>
          <p:cNvSpPr txBox="1"/>
          <p:nvPr/>
        </p:nvSpPr>
        <p:spPr>
          <a:xfrm>
            <a:off x="2428538" y="595445"/>
            <a:ext cx="3771300" cy="6869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2400" dirty="0" smtClean="0">
                <a:solidFill>
                  <a:srgbClr val="F7F7F7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n-US" altLang="ko" sz="2400" dirty="0" smtClean="0">
                <a:solidFill>
                  <a:srgbClr val="F7F7F7"/>
                </a:solidFill>
                <a:latin typeface="Consolas"/>
                <a:ea typeface="Consolas"/>
                <a:cs typeface="Consolas"/>
                <a:sym typeface="Consolas"/>
              </a:rPr>
              <a:t>Project Name</a:t>
            </a:r>
            <a:r>
              <a:rPr lang="ko" sz="2400" dirty="0" smtClean="0">
                <a:solidFill>
                  <a:srgbClr val="F7F7F7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2400" dirty="0">
              <a:solidFill>
                <a:srgbClr val="F7F7F7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8"/>
          <p:cNvSpPr txBox="1">
            <a:spLocks noGrp="1"/>
          </p:cNvSpPr>
          <p:nvPr>
            <p:ph type="ctrTitle"/>
          </p:nvPr>
        </p:nvSpPr>
        <p:spPr>
          <a:xfrm>
            <a:off x="183975" y="42175"/>
            <a:ext cx="6262500" cy="57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6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2800"/>
              <a:t>2.  상세기획 개요</a:t>
            </a:r>
            <a:endParaRPr sz="2800"/>
          </a:p>
        </p:txBody>
      </p:sp>
      <p:sp>
        <p:nvSpPr>
          <p:cNvPr id="114" name="Google Shape;114;p18"/>
          <p:cNvSpPr txBox="1">
            <a:spLocks noGrp="1"/>
          </p:cNvSpPr>
          <p:nvPr>
            <p:ph type="subTitle" idx="1"/>
          </p:nvPr>
        </p:nvSpPr>
        <p:spPr>
          <a:xfrm>
            <a:off x="2085550" y="1406575"/>
            <a:ext cx="6937500" cy="3616500"/>
          </a:xfrm>
          <a:prstGeom prst="rect">
            <a:avLst/>
          </a:prstGeom>
          <a:noFill/>
          <a:ln w="9525" cap="flat" cmpd="sng">
            <a:solidFill>
              <a:srgbClr val="8080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295275" algn="l" rtl="0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Clr>
                <a:srgbClr val="E8E8E1"/>
              </a:buClr>
              <a:buSzPts val="1050"/>
              <a:buChar char="●"/>
            </a:pPr>
            <a:r>
              <a:rPr lang="ko" sz="1050" b="1">
                <a:solidFill>
                  <a:srgbClr val="E8E8E1"/>
                </a:solidFill>
                <a:latin typeface="Consolas"/>
                <a:ea typeface="Consolas"/>
                <a:cs typeface="Consolas"/>
                <a:sym typeface="Consolas"/>
              </a:rPr>
              <a:t>Header</a:t>
            </a:r>
            <a:r>
              <a:rPr lang="ko" sz="1050">
                <a:solidFill>
                  <a:srgbClr val="E8E8E1"/>
                </a:solidFill>
                <a:latin typeface="Consolas"/>
                <a:ea typeface="Consolas"/>
                <a:cs typeface="Consolas"/>
                <a:sym typeface="Consolas"/>
              </a:rPr>
              <a:t>: 직관적인 네비게이션 배치로 사용자가 원하는 정보를 빠르게 접근할 수 있도록 설계.</a:t>
            </a:r>
            <a:endParaRPr sz="1050">
              <a:solidFill>
                <a:srgbClr val="E8E8E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-29527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8E8E1"/>
              </a:buClr>
              <a:buSzPts val="1050"/>
              <a:buChar char="●"/>
            </a:pPr>
            <a:r>
              <a:rPr lang="ko" sz="1050" b="1">
                <a:solidFill>
                  <a:srgbClr val="E8E8E1"/>
                </a:solidFill>
                <a:latin typeface="Consolas"/>
                <a:ea typeface="Consolas"/>
                <a:cs typeface="Consolas"/>
                <a:sym typeface="Consolas"/>
              </a:rPr>
              <a:t>Main Video + Intro Sentence</a:t>
            </a:r>
            <a:r>
              <a:rPr lang="ko" sz="1050">
                <a:solidFill>
                  <a:srgbClr val="E8E8E1"/>
                </a:solidFill>
                <a:latin typeface="Consolas"/>
                <a:ea typeface="Consolas"/>
                <a:cs typeface="Consolas"/>
                <a:sym typeface="Consolas"/>
              </a:rPr>
              <a:t>: 시각적 흥미와 핵심 메시지를 동시에 전달, 사용자의 첫 인상을 고려한 인트로 섹션.</a:t>
            </a:r>
            <a:endParaRPr sz="1050">
              <a:solidFill>
                <a:srgbClr val="E8E8E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-29527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8E8E1"/>
              </a:buClr>
              <a:buSzPts val="1050"/>
              <a:buChar char="●"/>
            </a:pPr>
            <a:r>
              <a:rPr lang="ko" sz="1050" b="1">
                <a:solidFill>
                  <a:srgbClr val="E8E8E1"/>
                </a:solidFill>
                <a:latin typeface="Consolas"/>
                <a:ea typeface="Consolas"/>
                <a:cs typeface="Consolas"/>
                <a:sym typeface="Consolas"/>
              </a:rPr>
              <a:t>Brand Line-Up (Image Rolling)</a:t>
            </a:r>
            <a:r>
              <a:rPr lang="ko" sz="1050">
                <a:solidFill>
                  <a:srgbClr val="E8E8E1"/>
                </a:solidFill>
                <a:latin typeface="Consolas"/>
                <a:ea typeface="Consolas"/>
                <a:cs typeface="Consolas"/>
                <a:sym typeface="Consolas"/>
              </a:rPr>
              <a:t>: 브랜드를 한눈에 보여주고, 별도의 스크롤 동작없이도 주요 라인을 확인할 수 있도록 이미지 롤링 기능 적용.</a:t>
            </a:r>
            <a:endParaRPr sz="1050">
              <a:solidFill>
                <a:srgbClr val="E8E8E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-29527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8E8E1"/>
              </a:buClr>
              <a:buSzPts val="1050"/>
              <a:buChar char="●"/>
            </a:pPr>
            <a:r>
              <a:rPr lang="ko" sz="1050" b="1">
                <a:solidFill>
                  <a:srgbClr val="E8E8E1"/>
                </a:solidFill>
                <a:latin typeface="Consolas"/>
                <a:ea typeface="Consolas"/>
                <a:cs typeface="Consolas"/>
                <a:sym typeface="Consolas"/>
              </a:rPr>
              <a:t>Best Perfume &amp; Concept Image Grid</a:t>
            </a:r>
            <a:r>
              <a:rPr lang="ko" sz="1050">
                <a:solidFill>
                  <a:srgbClr val="E8E8E1"/>
                </a:solidFill>
                <a:latin typeface="Consolas"/>
                <a:ea typeface="Consolas"/>
                <a:cs typeface="Consolas"/>
                <a:sym typeface="Consolas"/>
              </a:rPr>
              <a:t>: 인기 제품과 컨셉 이미지를 시각적으로 배치, Hover 시 이미지 확대 슬라이드 효과로 사용자가 자연스럽게 상세 정보를 확인 가능.</a:t>
            </a:r>
            <a:endParaRPr sz="1050">
              <a:solidFill>
                <a:srgbClr val="E8E8E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-29527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8E8E1"/>
              </a:buClr>
              <a:buSzPts val="1050"/>
              <a:buChar char="●"/>
            </a:pPr>
            <a:r>
              <a:rPr lang="ko" sz="1050" b="1">
                <a:solidFill>
                  <a:srgbClr val="E8E8E1"/>
                </a:solidFill>
                <a:latin typeface="Consolas"/>
                <a:ea typeface="Consolas"/>
                <a:cs typeface="Consolas"/>
                <a:sym typeface="Consolas"/>
              </a:rPr>
              <a:t>Footer</a:t>
            </a:r>
            <a:r>
              <a:rPr lang="ko" sz="1050">
                <a:solidFill>
                  <a:srgbClr val="E8E8E1"/>
                </a:solidFill>
                <a:latin typeface="Consolas"/>
                <a:ea typeface="Consolas"/>
                <a:cs typeface="Consolas"/>
                <a:sym typeface="Consolas"/>
              </a:rPr>
              <a:t>: 추가 정보와 연락처, 관련 링크를 배치하여 사용자의 접근성을 높임.</a:t>
            </a:r>
            <a:br>
              <a:rPr lang="ko" sz="1050">
                <a:solidFill>
                  <a:srgbClr val="E8E8E1"/>
                </a:solidFill>
                <a:latin typeface="Consolas"/>
                <a:ea typeface="Consolas"/>
                <a:cs typeface="Consolas"/>
                <a:sym typeface="Consolas"/>
              </a:rPr>
            </a:br>
            <a:endParaRPr sz="1050">
              <a:solidFill>
                <a:srgbClr val="E8E8E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rPr lang="ko" sz="1050" b="1">
                <a:solidFill>
                  <a:srgbClr val="E8E8E1"/>
                </a:solidFill>
                <a:latin typeface="Consolas"/>
                <a:ea typeface="Consolas"/>
                <a:cs typeface="Consolas"/>
                <a:sym typeface="Consolas"/>
              </a:rPr>
              <a:t>설계 포인트</a:t>
            </a:r>
            <a:endParaRPr sz="1050">
              <a:solidFill>
                <a:srgbClr val="E8E8E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381000" marR="381000" lvl="0" indent="0" algn="l" rtl="0">
              <a:lnSpc>
                <a:spcPct val="115000"/>
              </a:lnSpc>
              <a:spcBef>
                <a:spcPts val="1100"/>
              </a:spcBef>
              <a:spcAft>
                <a:spcPts val="1100"/>
              </a:spcAft>
              <a:buNone/>
            </a:pPr>
            <a:r>
              <a:rPr lang="ko" sz="1050">
                <a:solidFill>
                  <a:srgbClr val="E8E8E1"/>
                </a:solidFill>
                <a:latin typeface="Consolas"/>
                <a:ea typeface="Consolas"/>
                <a:cs typeface="Consolas"/>
                <a:sym typeface="Consolas"/>
              </a:rPr>
              <a:t>전체 구조는 사용자의 시선 흐름과 탐색 편의성을 고려해 위에서 아래로 자연스럽게 정보를 확인할 수 있도록 구성.</a:t>
            </a:r>
            <a:br>
              <a:rPr lang="ko" sz="1050">
                <a:solidFill>
                  <a:srgbClr val="E8E8E1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ko" sz="1050">
                <a:solidFill>
                  <a:srgbClr val="E8E8E1"/>
                </a:solidFill>
                <a:latin typeface="Consolas"/>
                <a:ea typeface="Consolas"/>
                <a:cs typeface="Consolas"/>
                <a:sym typeface="Consolas"/>
              </a:rPr>
              <a:t>중요한 콘텐츠는 js를 통한 애니메이션 등 기능 추가로 시각적 강조를 통해 사용자가 직관적으로 이해할 수 있게 설계.</a:t>
            </a:r>
            <a:endParaRPr sz="1050">
              <a:solidFill>
                <a:srgbClr val="E8E8E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15" name="Google Shape;115;p18"/>
          <p:cNvSpPr/>
          <p:nvPr/>
        </p:nvSpPr>
        <p:spPr>
          <a:xfrm>
            <a:off x="3550" y="583925"/>
            <a:ext cx="6442800" cy="31800"/>
          </a:xfrm>
          <a:prstGeom prst="rect">
            <a:avLst/>
          </a:prstGeom>
          <a:solidFill>
            <a:srgbClr val="E8E8E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" name="Google Shape;116;p18"/>
          <p:cNvSpPr txBox="1"/>
          <p:nvPr/>
        </p:nvSpPr>
        <p:spPr>
          <a:xfrm>
            <a:off x="2085550" y="626815"/>
            <a:ext cx="37713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2400" dirty="0">
                <a:solidFill>
                  <a:srgbClr val="F7F7F7"/>
                </a:solidFill>
                <a:latin typeface="Consolas"/>
                <a:ea typeface="Consolas"/>
                <a:cs typeface="Consolas"/>
                <a:sym typeface="Consolas"/>
              </a:rPr>
              <a:t>&lt;Main Page Wireframe&gt;</a:t>
            </a:r>
            <a:endParaRPr sz="2400" dirty="0">
              <a:solidFill>
                <a:srgbClr val="F7F7F7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117" name="Google Shape;117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4806" y="718801"/>
            <a:ext cx="1876809" cy="43042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9"/>
          <p:cNvSpPr txBox="1">
            <a:spLocks noGrp="1"/>
          </p:cNvSpPr>
          <p:nvPr>
            <p:ph type="ctrTitle"/>
          </p:nvPr>
        </p:nvSpPr>
        <p:spPr>
          <a:xfrm>
            <a:off x="183975" y="42175"/>
            <a:ext cx="6262500" cy="57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6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2800"/>
              <a:t>2.  상세기획 개요</a:t>
            </a:r>
            <a:endParaRPr sz="2800"/>
          </a:p>
        </p:txBody>
      </p:sp>
      <p:sp>
        <p:nvSpPr>
          <p:cNvPr id="123" name="Google Shape;123;p19"/>
          <p:cNvSpPr txBox="1">
            <a:spLocks noGrp="1"/>
          </p:cNvSpPr>
          <p:nvPr>
            <p:ph type="subTitle" idx="1"/>
          </p:nvPr>
        </p:nvSpPr>
        <p:spPr>
          <a:xfrm>
            <a:off x="2085550" y="1406575"/>
            <a:ext cx="6937500" cy="3616500"/>
          </a:xfrm>
          <a:prstGeom prst="rect">
            <a:avLst/>
          </a:prstGeom>
          <a:noFill/>
          <a:ln w="9525" cap="flat" cmpd="sng">
            <a:solidFill>
              <a:srgbClr val="8080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295275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E8E8E1"/>
              </a:buClr>
              <a:buSzPts val="1050"/>
              <a:buChar char="●"/>
            </a:pPr>
            <a:r>
              <a:rPr lang="ko" sz="1050" b="1">
                <a:solidFill>
                  <a:srgbClr val="E8E8E1"/>
                </a:solidFill>
                <a:latin typeface="Consolas"/>
                <a:ea typeface="Consolas"/>
                <a:cs typeface="Consolas"/>
                <a:sym typeface="Consolas"/>
              </a:rPr>
              <a:t>Concept Image Slides:</a:t>
            </a:r>
            <a:r>
              <a:rPr lang="ko" sz="1050">
                <a:solidFill>
                  <a:srgbClr val="E8E8E1"/>
                </a:solidFill>
                <a:latin typeface="Consolas"/>
                <a:ea typeface="Consolas"/>
                <a:cs typeface="Consolas"/>
                <a:sym typeface="Consolas"/>
              </a:rPr>
              <a:t> 프로젝트 컨셉을 시각적으로 전달, 슬라이드 방식으로 동적 연출을 제공하여 사용자의 흥미 유발.</a:t>
            </a:r>
            <a:endParaRPr sz="1050">
              <a:solidFill>
                <a:srgbClr val="E8E8E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-29527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8E8E1"/>
              </a:buClr>
              <a:buSzPts val="1050"/>
              <a:buChar char="●"/>
            </a:pPr>
            <a:r>
              <a:rPr lang="ko" sz="1050" b="1">
                <a:solidFill>
                  <a:srgbClr val="E8E8E1"/>
                </a:solidFill>
                <a:latin typeface="Consolas"/>
                <a:ea typeface="Consolas"/>
                <a:cs typeface="Consolas"/>
                <a:sym typeface="Consolas"/>
              </a:rPr>
              <a:t>Magazine Info &amp; Name:</a:t>
            </a:r>
            <a:r>
              <a:rPr lang="ko" sz="1050">
                <a:solidFill>
                  <a:srgbClr val="E8E8E1"/>
                </a:solidFill>
                <a:latin typeface="Consolas"/>
                <a:ea typeface="Consolas"/>
                <a:cs typeface="Consolas"/>
                <a:sym typeface="Consolas"/>
              </a:rPr>
              <a:t> 매거진 이름과 관련 정보를 영상 애니메이션으로 시각화, 브랜드 아이덴티티 강조.</a:t>
            </a:r>
            <a:endParaRPr sz="1050">
              <a:solidFill>
                <a:srgbClr val="E8E8E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-29527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8E8E1"/>
              </a:buClr>
              <a:buSzPts val="1050"/>
              <a:buChar char="●"/>
            </a:pPr>
            <a:r>
              <a:rPr lang="ko" sz="1050" b="1">
                <a:solidFill>
                  <a:srgbClr val="E8E8E1"/>
                </a:solidFill>
                <a:latin typeface="Consolas"/>
                <a:ea typeface="Consolas"/>
                <a:cs typeface="Consolas"/>
                <a:sym typeface="Consolas"/>
              </a:rPr>
              <a:t>Magazine Values (Drag Event):</a:t>
            </a:r>
            <a:r>
              <a:rPr lang="ko" sz="1050">
                <a:solidFill>
                  <a:srgbClr val="E8E8E1"/>
                </a:solidFill>
                <a:latin typeface="Consolas"/>
                <a:ea typeface="Consolas"/>
                <a:cs typeface="Consolas"/>
                <a:sym typeface="Consolas"/>
              </a:rPr>
              <a:t> 드래그 가능한 인터랙션으로 매거진의 핵심 가치를 자연스럽게 탐색 가능.</a:t>
            </a:r>
            <a:br>
              <a:rPr lang="ko" sz="1050">
                <a:solidFill>
                  <a:srgbClr val="E8E8E1"/>
                </a:solidFill>
                <a:latin typeface="Consolas"/>
                <a:ea typeface="Consolas"/>
                <a:cs typeface="Consolas"/>
                <a:sym typeface="Consolas"/>
              </a:rPr>
            </a:br>
            <a:endParaRPr sz="1050">
              <a:solidFill>
                <a:srgbClr val="E8E8E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050">
              <a:solidFill>
                <a:srgbClr val="E8E8E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 sz="1050" b="1">
                <a:solidFill>
                  <a:srgbClr val="E8E8E1"/>
                </a:solidFill>
                <a:latin typeface="Consolas"/>
                <a:ea typeface="Consolas"/>
                <a:cs typeface="Consolas"/>
                <a:sym typeface="Consolas"/>
              </a:rPr>
              <a:t>설계 포인트</a:t>
            </a:r>
            <a:endParaRPr sz="1050">
              <a:solidFill>
                <a:srgbClr val="E8E8E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 sz="1050">
                <a:solidFill>
                  <a:srgbClr val="E8E8E1"/>
                </a:solidFill>
                <a:latin typeface="Consolas"/>
                <a:ea typeface="Consolas"/>
                <a:cs typeface="Consolas"/>
                <a:sym typeface="Consolas"/>
              </a:rPr>
              <a:t>애니메이션과 드래그 인터랙션을 통해 정적 정보보다 직관적이고 몰입감 있는 경험 제공.</a:t>
            </a:r>
            <a:endParaRPr sz="1050">
              <a:solidFill>
                <a:srgbClr val="E8E8E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45720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ko" sz="1050">
                <a:solidFill>
                  <a:srgbClr val="E8E8E1"/>
                </a:solidFill>
                <a:latin typeface="Consolas"/>
                <a:ea typeface="Consolas"/>
                <a:cs typeface="Consolas"/>
                <a:sym typeface="Consolas"/>
              </a:rPr>
              <a:t>각 섹션의 중요성을 시각적 레이어와 크기로 구분하여 이해도를 높임.</a:t>
            </a:r>
            <a:endParaRPr sz="1050" b="1">
              <a:solidFill>
                <a:srgbClr val="E8E8E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24" name="Google Shape;124;p19"/>
          <p:cNvSpPr/>
          <p:nvPr/>
        </p:nvSpPr>
        <p:spPr>
          <a:xfrm>
            <a:off x="3550" y="583925"/>
            <a:ext cx="6442800" cy="31800"/>
          </a:xfrm>
          <a:prstGeom prst="rect">
            <a:avLst/>
          </a:prstGeom>
          <a:solidFill>
            <a:srgbClr val="E8E8E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" name="Google Shape;125;p19"/>
          <p:cNvSpPr txBox="1"/>
          <p:nvPr/>
        </p:nvSpPr>
        <p:spPr>
          <a:xfrm>
            <a:off x="2085550" y="615725"/>
            <a:ext cx="69375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2400">
                <a:solidFill>
                  <a:srgbClr val="F7F7F7"/>
                </a:solidFill>
                <a:latin typeface="Consolas"/>
                <a:ea typeface="Consolas"/>
                <a:cs typeface="Consolas"/>
                <a:sym typeface="Consolas"/>
              </a:rPr>
              <a:t>&lt;Sub Page-About Wireframe&gt;</a:t>
            </a:r>
            <a:endParaRPr sz="2400">
              <a:solidFill>
                <a:srgbClr val="F7F7F7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126" name="Google Shape;126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9202" y="718801"/>
            <a:ext cx="1876809" cy="43042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0"/>
          <p:cNvSpPr txBox="1">
            <a:spLocks noGrp="1"/>
          </p:cNvSpPr>
          <p:nvPr>
            <p:ph type="ctrTitle"/>
          </p:nvPr>
        </p:nvSpPr>
        <p:spPr>
          <a:xfrm>
            <a:off x="183975" y="42175"/>
            <a:ext cx="6262500" cy="57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6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2800"/>
              <a:t>2.  상세기획 개요</a:t>
            </a:r>
            <a:endParaRPr sz="2800"/>
          </a:p>
        </p:txBody>
      </p:sp>
      <p:sp>
        <p:nvSpPr>
          <p:cNvPr id="132" name="Google Shape;132;p20"/>
          <p:cNvSpPr txBox="1">
            <a:spLocks noGrp="1"/>
          </p:cNvSpPr>
          <p:nvPr>
            <p:ph type="subTitle" idx="1"/>
          </p:nvPr>
        </p:nvSpPr>
        <p:spPr>
          <a:xfrm>
            <a:off x="2085550" y="1406575"/>
            <a:ext cx="6937500" cy="3616500"/>
          </a:xfrm>
          <a:prstGeom prst="rect">
            <a:avLst/>
          </a:prstGeom>
          <a:noFill/>
          <a:ln w="9525" cap="flat" cmpd="sng">
            <a:solidFill>
              <a:srgbClr val="8080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295275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E8E8E1"/>
              </a:buClr>
              <a:buSzPts val="1050"/>
              <a:buChar char="●"/>
            </a:pPr>
            <a:r>
              <a:rPr lang="ko" sz="1050" b="1">
                <a:solidFill>
                  <a:srgbClr val="E8E8E1"/>
                </a:solidFill>
                <a:latin typeface="Consolas"/>
                <a:ea typeface="Consolas"/>
                <a:cs typeface="Consolas"/>
                <a:sym typeface="Consolas"/>
              </a:rPr>
              <a:t>Main Intro Image + Brand Name:</a:t>
            </a:r>
            <a:r>
              <a:rPr lang="ko" sz="1050">
                <a:solidFill>
                  <a:srgbClr val="E8E8E1"/>
                </a:solidFill>
                <a:latin typeface="Consolas"/>
                <a:ea typeface="Consolas"/>
                <a:cs typeface="Consolas"/>
                <a:sym typeface="Consolas"/>
              </a:rPr>
              <a:t> 브랜드의 정체성을 직관적으로 보여주는 이미지와 브랜드명 강조, 사용자의 첫 인상 고려.</a:t>
            </a:r>
            <a:endParaRPr sz="1050">
              <a:solidFill>
                <a:srgbClr val="E8E8E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-29527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8E8E1"/>
              </a:buClr>
              <a:buSzPts val="1050"/>
              <a:buChar char="●"/>
            </a:pPr>
            <a:r>
              <a:rPr lang="ko" sz="1050" b="1">
                <a:solidFill>
                  <a:srgbClr val="E8E8E1"/>
                </a:solidFill>
                <a:latin typeface="Consolas"/>
                <a:ea typeface="Consolas"/>
                <a:cs typeface="Consolas"/>
                <a:sym typeface="Consolas"/>
              </a:rPr>
              <a:t>Brand Values:</a:t>
            </a:r>
            <a:r>
              <a:rPr lang="ko" sz="1050">
                <a:solidFill>
                  <a:srgbClr val="E8E8E1"/>
                </a:solidFill>
                <a:latin typeface="Consolas"/>
                <a:ea typeface="Consolas"/>
                <a:cs typeface="Consolas"/>
                <a:sym typeface="Consolas"/>
              </a:rPr>
              <a:t> 브랜드 핵심 가치와 메시지를 명확히 전달, 시각적 요소와 텍스트를 조화롭게 배치.</a:t>
            </a:r>
            <a:endParaRPr sz="1050">
              <a:solidFill>
                <a:srgbClr val="E8E8E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-29527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8E8E1"/>
              </a:buClr>
              <a:buSzPts val="1050"/>
              <a:buChar char="●"/>
            </a:pPr>
            <a:r>
              <a:rPr lang="ko" sz="1050" b="1">
                <a:solidFill>
                  <a:srgbClr val="E8E8E1"/>
                </a:solidFill>
                <a:latin typeface="Consolas"/>
                <a:ea typeface="Consolas"/>
                <a:cs typeface="Consolas"/>
                <a:sym typeface="Consolas"/>
              </a:rPr>
              <a:t>Concept Image &amp; Sentence:</a:t>
            </a:r>
            <a:r>
              <a:rPr lang="ko" sz="1050">
                <a:solidFill>
                  <a:srgbClr val="E8E8E1"/>
                </a:solidFill>
                <a:latin typeface="Consolas"/>
                <a:ea typeface="Consolas"/>
                <a:cs typeface="Consolas"/>
                <a:sym typeface="Consolas"/>
              </a:rPr>
              <a:t> 컨셉 이미지와 설명 문장을 교차 배치하여 정보 전달과 시각적 흥미를 동시에 제공.</a:t>
            </a:r>
            <a:endParaRPr sz="1050">
              <a:solidFill>
                <a:srgbClr val="E8E8E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-29527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8E8E1"/>
              </a:buClr>
              <a:buSzPts val="1050"/>
              <a:buChar char="●"/>
            </a:pPr>
            <a:r>
              <a:rPr lang="ko" sz="1050" b="1">
                <a:solidFill>
                  <a:srgbClr val="E8E8E1"/>
                </a:solidFill>
                <a:latin typeface="Consolas"/>
                <a:ea typeface="Consolas"/>
                <a:cs typeface="Consolas"/>
                <a:sym typeface="Consolas"/>
              </a:rPr>
              <a:t>Perfume Line-Up (Hover Flip Effect):</a:t>
            </a:r>
            <a:r>
              <a:rPr lang="ko" sz="1050">
                <a:solidFill>
                  <a:srgbClr val="E8E8E1"/>
                </a:solidFill>
                <a:latin typeface="Consolas"/>
                <a:ea typeface="Consolas"/>
                <a:cs typeface="Consolas"/>
                <a:sym typeface="Consolas"/>
              </a:rPr>
              <a:t> 주요 제품 이미지를 배치, Hover 시 정보 표시 및 이미지 전환 효과 적용.</a:t>
            </a:r>
            <a:endParaRPr sz="1050">
              <a:solidFill>
                <a:srgbClr val="E8E8E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-29527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8E8E1"/>
              </a:buClr>
              <a:buSzPts val="1050"/>
              <a:buChar char="●"/>
            </a:pPr>
            <a:r>
              <a:rPr lang="ko" sz="1050" b="1">
                <a:solidFill>
                  <a:srgbClr val="E8E8E1"/>
                </a:solidFill>
                <a:latin typeface="Consolas"/>
                <a:ea typeface="Consolas"/>
                <a:cs typeface="Consolas"/>
                <a:sym typeface="Consolas"/>
              </a:rPr>
              <a:t>Fashion Image + Sentence:</a:t>
            </a:r>
            <a:r>
              <a:rPr lang="ko" sz="1050">
                <a:solidFill>
                  <a:srgbClr val="E8E8E1"/>
                </a:solidFill>
                <a:latin typeface="Consolas"/>
                <a:ea typeface="Consolas"/>
                <a:cs typeface="Consolas"/>
                <a:sym typeface="Consolas"/>
              </a:rPr>
              <a:t> 브랜드 패션 이미지와 관련 문장을 배치하여 브랜드의 스타일 및 철학 강조.</a:t>
            </a:r>
            <a:endParaRPr sz="1050">
              <a:solidFill>
                <a:srgbClr val="E8E8E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-29527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8E8E1"/>
              </a:buClr>
              <a:buSzPts val="1050"/>
              <a:buChar char="●"/>
            </a:pPr>
            <a:r>
              <a:rPr lang="ko" sz="1050" b="1">
                <a:solidFill>
                  <a:srgbClr val="E8E8E1"/>
                </a:solidFill>
                <a:latin typeface="Consolas"/>
                <a:ea typeface="Consolas"/>
                <a:cs typeface="Consolas"/>
                <a:sym typeface="Consolas"/>
              </a:rPr>
              <a:t>Kakao Map:</a:t>
            </a:r>
            <a:r>
              <a:rPr lang="ko" sz="1050">
                <a:solidFill>
                  <a:srgbClr val="E8E8E1"/>
                </a:solidFill>
                <a:latin typeface="Consolas"/>
                <a:ea typeface="Consolas"/>
                <a:cs typeface="Consolas"/>
                <a:sym typeface="Consolas"/>
              </a:rPr>
              <a:t> 실제 매장 위치를 지도와 함께 제공, 사용자의 방문 편의성 향상.</a:t>
            </a:r>
            <a:br>
              <a:rPr lang="ko" sz="1050">
                <a:solidFill>
                  <a:srgbClr val="E8E8E1"/>
                </a:solidFill>
                <a:latin typeface="Consolas"/>
                <a:ea typeface="Consolas"/>
                <a:cs typeface="Consolas"/>
                <a:sym typeface="Consolas"/>
              </a:rPr>
            </a:br>
            <a:endParaRPr sz="1050">
              <a:solidFill>
                <a:srgbClr val="E8E8E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 sz="1050" b="1">
                <a:solidFill>
                  <a:srgbClr val="E8E8E1"/>
                </a:solidFill>
                <a:latin typeface="Consolas"/>
                <a:ea typeface="Consolas"/>
                <a:cs typeface="Consolas"/>
                <a:sym typeface="Consolas"/>
              </a:rPr>
              <a:t>설계 포인트</a:t>
            </a:r>
            <a:endParaRPr sz="1050">
              <a:solidFill>
                <a:srgbClr val="E8E8E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 sz="1050">
                <a:solidFill>
                  <a:srgbClr val="E8E8E1"/>
                </a:solidFill>
                <a:latin typeface="Consolas"/>
                <a:ea typeface="Consolas"/>
                <a:cs typeface="Consolas"/>
                <a:sym typeface="Consolas"/>
              </a:rPr>
              <a:t>주요 제품과 컨셉 이미지를 시각적 강조를 통해 직관적으로 이해 가능.</a:t>
            </a:r>
            <a:endParaRPr sz="1050">
              <a:solidFill>
                <a:srgbClr val="E8E8E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ko" sz="1050">
                <a:solidFill>
                  <a:srgbClr val="E8E8E1"/>
                </a:solidFill>
                <a:latin typeface="Consolas"/>
                <a:ea typeface="Consolas"/>
                <a:cs typeface="Consolas"/>
                <a:sym typeface="Consolas"/>
              </a:rPr>
              <a:t>Hover 및 인터랙션으로 사용자가 능동적으로 정보를 탐색하도록 유도.</a:t>
            </a:r>
            <a:endParaRPr sz="1050" b="1">
              <a:solidFill>
                <a:srgbClr val="E8E8E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33" name="Google Shape;133;p20"/>
          <p:cNvSpPr/>
          <p:nvPr/>
        </p:nvSpPr>
        <p:spPr>
          <a:xfrm>
            <a:off x="3550" y="583925"/>
            <a:ext cx="6442800" cy="31800"/>
          </a:xfrm>
          <a:prstGeom prst="rect">
            <a:avLst/>
          </a:prstGeom>
          <a:solidFill>
            <a:srgbClr val="E8E8E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" name="Google Shape;134;p20"/>
          <p:cNvSpPr txBox="1"/>
          <p:nvPr/>
        </p:nvSpPr>
        <p:spPr>
          <a:xfrm>
            <a:off x="2085550" y="615725"/>
            <a:ext cx="69375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2400">
                <a:solidFill>
                  <a:srgbClr val="F7F7F7"/>
                </a:solidFill>
                <a:latin typeface="Consolas"/>
                <a:ea typeface="Consolas"/>
                <a:cs typeface="Consolas"/>
                <a:sym typeface="Consolas"/>
              </a:rPr>
              <a:t>&lt;Sub Page-Brand Wireframe&gt;</a:t>
            </a:r>
            <a:endParaRPr sz="2400">
              <a:solidFill>
                <a:srgbClr val="F7F7F7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135" name="Google Shape;135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9109" y="718800"/>
            <a:ext cx="1498516" cy="43042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1"/>
          <p:cNvSpPr txBox="1">
            <a:spLocks noGrp="1"/>
          </p:cNvSpPr>
          <p:nvPr>
            <p:ph type="ctrTitle"/>
          </p:nvPr>
        </p:nvSpPr>
        <p:spPr>
          <a:xfrm>
            <a:off x="183975" y="42175"/>
            <a:ext cx="6262500" cy="57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6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2800"/>
              <a:t>2.  상세기획 개요</a:t>
            </a:r>
            <a:endParaRPr sz="2800"/>
          </a:p>
        </p:txBody>
      </p:sp>
      <p:sp>
        <p:nvSpPr>
          <p:cNvPr id="141" name="Google Shape;141;p21"/>
          <p:cNvSpPr txBox="1">
            <a:spLocks noGrp="1"/>
          </p:cNvSpPr>
          <p:nvPr>
            <p:ph type="subTitle" idx="1"/>
          </p:nvPr>
        </p:nvSpPr>
        <p:spPr>
          <a:xfrm>
            <a:off x="2085550" y="1406575"/>
            <a:ext cx="6937500" cy="3616500"/>
          </a:xfrm>
          <a:prstGeom prst="rect">
            <a:avLst/>
          </a:prstGeom>
          <a:noFill/>
          <a:ln w="9525" cap="flat" cmpd="sng">
            <a:solidFill>
              <a:srgbClr val="8080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295275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E8E8E1"/>
              </a:buClr>
              <a:buSzPts val="1050"/>
              <a:buChar char="●"/>
            </a:pPr>
            <a:r>
              <a:rPr lang="ko" sz="1050" b="1">
                <a:solidFill>
                  <a:srgbClr val="E8E8E1"/>
                </a:solidFill>
                <a:latin typeface="Consolas"/>
                <a:ea typeface="Consolas"/>
                <a:cs typeface="Consolas"/>
                <a:sym typeface="Consolas"/>
              </a:rPr>
              <a:t>Main Image + Perfume Name:</a:t>
            </a:r>
            <a:r>
              <a:rPr lang="ko" sz="1050">
                <a:solidFill>
                  <a:srgbClr val="E8E8E1"/>
                </a:solidFill>
                <a:latin typeface="Consolas"/>
                <a:ea typeface="Consolas"/>
                <a:cs typeface="Consolas"/>
                <a:sym typeface="Consolas"/>
              </a:rPr>
              <a:t> 제품 이미지와 이름을 전면 배치, 첫 시각적 임팩트 제공.</a:t>
            </a:r>
            <a:endParaRPr sz="1050">
              <a:solidFill>
                <a:srgbClr val="E8E8E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-29527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8E8E1"/>
              </a:buClr>
              <a:buSzPts val="1050"/>
              <a:buChar char="●"/>
            </a:pPr>
            <a:r>
              <a:rPr lang="ko" sz="1050" b="1">
                <a:solidFill>
                  <a:srgbClr val="E8E8E1"/>
                </a:solidFill>
                <a:latin typeface="Consolas"/>
                <a:ea typeface="Consolas"/>
                <a:cs typeface="Consolas"/>
                <a:sym typeface="Consolas"/>
              </a:rPr>
              <a:t>Element Images (el. Image) + Explanation Sentence:</a:t>
            </a:r>
            <a:r>
              <a:rPr lang="ko" sz="1050">
                <a:solidFill>
                  <a:srgbClr val="E8E8E1"/>
                </a:solidFill>
                <a:latin typeface="Consolas"/>
                <a:ea typeface="Consolas"/>
                <a:cs typeface="Consolas"/>
                <a:sym typeface="Consolas"/>
              </a:rPr>
              <a:t> 제품 관련 요소 이미지와 설명 문장 배치, 상세 정보 직관적 전달.</a:t>
            </a:r>
            <a:endParaRPr sz="1050">
              <a:solidFill>
                <a:srgbClr val="E8E8E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-29527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8E8E1"/>
              </a:buClr>
              <a:buSzPts val="1050"/>
              <a:buChar char="●"/>
            </a:pPr>
            <a:r>
              <a:rPr lang="ko" sz="1050" b="1">
                <a:solidFill>
                  <a:srgbClr val="E8E8E1"/>
                </a:solidFill>
                <a:latin typeface="Consolas"/>
                <a:ea typeface="Consolas"/>
                <a:cs typeface="Consolas"/>
                <a:sym typeface="Consolas"/>
              </a:rPr>
              <a:t>Fashion Concept Image:</a:t>
            </a:r>
            <a:r>
              <a:rPr lang="ko" sz="1050">
                <a:solidFill>
                  <a:srgbClr val="E8E8E1"/>
                </a:solidFill>
                <a:latin typeface="Consolas"/>
                <a:ea typeface="Consolas"/>
                <a:cs typeface="Consolas"/>
                <a:sym typeface="Consolas"/>
              </a:rPr>
              <a:t> 제품과 연관된 스타일/패션 컨셉 이미지로 브랜드 스토리 강화.</a:t>
            </a:r>
            <a:endParaRPr sz="1050">
              <a:solidFill>
                <a:srgbClr val="E8E8E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-29527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8E8E1"/>
              </a:buClr>
              <a:buSzPts val="1050"/>
              <a:buChar char="●"/>
            </a:pPr>
            <a:r>
              <a:rPr lang="ko" sz="1050" b="1">
                <a:solidFill>
                  <a:srgbClr val="E8E8E1"/>
                </a:solidFill>
                <a:latin typeface="Consolas"/>
                <a:ea typeface="Consolas"/>
                <a:cs typeface="Consolas"/>
                <a:sym typeface="Consolas"/>
              </a:rPr>
              <a:t>Style Image:</a:t>
            </a:r>
            <a:r>
              <a:rPr lang="ko" sz="1050">
                <a:solidFill>
                  <a:srgbClr val="E8E8E1"/>
                </a:solidFill>
                <a:latin typeface="Consolas"/>
                <a:ea typeface="Consolas"/>
                <a:cs typeface="Consolas"/>
                <a:sym typeface="Consolas"/>
              </a:rPr>
              <a:t> 스타일 이미지를 그리드로 배치, 사용자가 다양한 연출을 직관적으로 확인 가능.</a:t>
            </a:r>
            <a:endParaRPr sz="1050">
              <a:solidFill>
                <a:srgbClr val="E8E8E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050">
              <a:solidFill>
                <a:srgbClr val="E8E8E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 sz="1050" b="1">
                <a:solidFill>
                  <a:srgbClr val="E8E8E1"/>
                </a:solidFill>
                <a:latin typeface="Consolas"/>
                <a:ea typeface="Consolas"/>
                <a:cs typeface="Consolas"/>
                <a:sym typeface="Consolas"/>
              </a:rPr>
              <a:t>설계 포인트</a:t>
            </a:r>
            <a:endParaRPr sz="1050">
              <a:solidFill>
                <a:srgbClr val="E8E8E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 sz="1050">
                <a:solidFill>
                  <a:srgbClr val="E8E8E1"/>
                </a:solidFill>
                <a:latin typeface="Consolas"/>
                <a:ea typeface="Consolas"/>
                <a:cs typeface="Consolas"/>
                <a:sym typeface="Consolas"/>
              </a:rPr>
              <a:t>이미지 중심 레이아웃으로 시각적 이해도를 높임.</a:t>
            </a:r>
            <a:endParaRPr sz="1050">
              <a:solidFill>
                <a:srgbClr val="E8E8E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ko" sz="1050">
                <a:solidFill>
                  <a:srgbClr val="E8E8E1"/>
                </a:solidFill>
                <a:latin typeface="Consolas"/>
                <a:ea typeface="Consolas"/>
                <a:cs typeface="Consolas"/>
                <a:sym typeface="Consolas"/>
              </a:rPr>
              <a:t>상세 정보는 Hover 또는 그리드 배치로 직관적으로 제공, 사용자의 탐색 편의성 강화.</a:t>
            </a:r>
            <a:br>
              <a:rPr lang="ko" sz="1050">
                <a:solidFill>
                  <a:srgbClr val="E8E8E1"/>
                </a:solidFill>
                <a:latin typeface="Consolas"/>
                <a:ea typeface="Consolas"/>
                <a:cs typeface="Consolas"/>
                <a:sym typeface="Consolas"/>
              </a:rPr>
            </a:br>
            <a:endParaRPr sz="1050" b="1">
              <a:solidFill>
                <a:srgbClr val="E8E8E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42" name="Google Shape;142;p21"/>
          <p:cNvSpPr/>
          <p:nvPr/>
        </p:nvSpPr>
        <p:spPr>
          <a:xfrm>
            <a:off x="3550" y="583925"/>
            <a:ext cx="6442800" cy="31800"/>
          </a:xfrm>
          <a:prstGeom prst="rect">
            <a:avLst/>
          </a:prstGeom>
          <a:solidFill>
            <a:srgbClr val="E8E8E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" name="Google Shape;143;p21"/>
          <p:cNvSpPr txBox="1"/>
          <p:nvPr/>
        </p:nvSpPr>
        <p:spPr>
          <a:xfrm>
            <a:off x="2085550" y="632161"/>
            <a:ext cx="69375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2400" dirty="0">
                <a:solidFill>
                  <a:srgbClr val="F7F7F7"/>
                </a:solidFill>
                <a:latin typeface="Consolas"/>
                <a:ea typeface="Consolas"/>
                <a:cs typeface="Consolas"/>
                <a:sym typeface="Consolas"/>
              </a:rPr>
              <a:t>&lt;Sub Page-Perfume Wireframe&gt;</a:t>
            </a:r>
            <a:endParaRPr sz="2400" dirty="0">
              <a:solidFill>
                <a:srgbClr val="F7F7F7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144" name="Google Shape;144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9202" y="718801"/>
            <a:ext cx="1876809" cy="43042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2"/>
          <p:cNvSpPr txBox="1">
            <a:spLocks noGrp="1"/>
          </p:cNvSpPr>
          <p:nvPr>
            <p:ph type="ctrTitle"/>
          </p:nvPr>
        </p:nvSpPr>
        <p:spPr>
          <a:xfrm>
            <a:off x="183975" y="42175"/>
            <a:ext cx="6262500" cy="57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6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2800"/>
              <a:t>2.  상세기획 개요</a:t>
            </a:r>
            <a:endParaRPr sz="2800"/>
          </a:p>
        </p:txBody>
      </p:sp>
      <p:sp>
        <p:nvSpPr>
          <p:cNvPr id="150" name="Google Shape;150;p22"/>
          <p:cNvSpPr/>
          <p:nvPr/>
        </p:nvSpPr>
        <p:spPr>
          <a:xfrm>
            <a:off x="3550" y="583925"/>
            <a:ext cx="6442800" cy="31800"/>
          </a:xfrm>
          <a:prstGeom prst="rect">
            <a:avLst/>
          </a:prstGeom>
          <a:solidFill>
            <a:srgbClr val="E8E8E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" name="Google Shape;151;p22"/>
          <p:cNvSpPr txBox="1"/>
          <p:nvPr/>
        </p:nvSpPr>
        <p:spPr>
          <a:xfrm>
            <a:off x="116700" y="579849"/>
            <a:ext cx="69375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2400">
                <a:solidFill>
                  <a:srgbClr val="F7F7F7"/>
                </a:solidFill>
                <a:latin typeface="Consolas"/>
                <a:ea typeface="Consolas"/>
                <a:cs typeface="Consolas"/>
                <a:sym typeface="Consolas"/>
              </a:rPr>
              <a:t>&lt;Design System&gt;</a:t>
            </a:r>
            <a:endParaRPr sz="2400">
              <a:solidFill>
                <a:srgbClr val="F7F7F7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52" name="Google Shape;152;p22"/>
          <p:cNvSpPr/>
          <p:nvPr/>
        </p:nvSpPr>
        <p:spPr>
          <a:xfrm>
            <a:off x="183975" y="1363454"/>
            <a:ext cx="8750400" cy="836700"/>
          </a:xfrm>
          <a:prstGeom prst="rect">
            <a:avLst/>
          </a:prstGeom>
          <a:solidFill>
            <a:schemeClr val="dk1"/>
          </a:solidFill>
          <a:ln w="9525" cap="flat" cmpd="sng">
            <a:solidFill>
              <a:srgbClr val="E8E8E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53" name="Google Shape;153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91245" y="1622409"/>
            <a:ext cx="352425" cy="352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85427" y="1622409"/>
            <a:ext cx="342900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22"/>
          <p:cNvSpPr txBox="1">
            <a:spLocks noGrp="1"/>
          </p:cNvSpPr>
          <p:nvPr>
            <p:ph type="subTitle" idx="1"/>
          </p:nvPr>
        </p:nvSpPr>
        <p:spPr>
          <a:xfrm>
            <a:off x="1515949" y="1146339"/>
            <a:ext cx="1139100" cy="37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ko" sz="1000" b="1" dirty="0">
                <a:solidFill>
                  <a:srgbClr val="262626"/>
                </a:solidFill>
                <a:latin typeface="Consolas"/>
                <a:ea typeface="Consolas"/>
                <a:cs typeface="Consolas"/>
                <a:sym typeface="Consolas"/>
              </a:rPr>
              <a:t>&lt;Main Color&gt;</a:t>
            </a:r>
            <a:endParaRPr sz="1000" b="1" dirty="0">
              <a:solidFill>
                <a:srgbClr val="262626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56" name="Google Shape;156;p22"/>
          <p:cNvSpPr txBox="1"/>
          <p:nvPr/>
        </p:nvSpPr>
        <p:spPr>
          <a:xfrm>
            <a:off x="1580057" y="1912979"/>
            <a:ext cx="5748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700"/>
              <a:t>#F7F7F7</a:t>
            </a:r>
            <a:endParaRPr sz="700"/>
          </a:p>
        </p:txBody>
      </p:sp>
      <p:sp>
        <p:nvSpPr>
          <p:cNvPr id="157" name="Google Shape;157;p22"/>
          <p:cNvSpPr txBox="1"/>
          <p:nvPr/>
        </p:nvSpPr>
        <p:spPr>
          <a:xfrm>
            <a:off x="2069473" y="1912979"/>
            <a:ext cx="5748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700"/>
              <a:t>#222222</a:t>
            </a:r>
            <a:endParaRPr sz="700"/>
          </a:p>
        </p:txBody>
      </p:sp>
      <p:sp>
        <p:nvSpPr>
          <p:cNvPr id="158" name="Google Shape;158;p22"/>
          <p:cNvSpPr txBox="1">
            <a:spLocks noGrp="1"/>
          </p:cNvSpPr>
          <p:nvPr>
            <p:ph type="subTitle" idx="1"/>
          </p:nvPr>
        </p:nvSpPr>
        <p:spPr>
          <a:xfrm>
            <a:off x="2851258" y="1146337"/>
            <a:ext cx="1725900" cy="37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ko" sz="1000" b="1" dirty="0">
                <a:solidFill>
                  <a:srgbClr val="262626"/>
                </a:solidFill>
                <a:latin typeface="Consolas"/>
                <a:ea typeface="Consolas"/>
                <a:cs typeface="Consolas"/>
                <a:sym typeface="Consolas"/>
              </a:rPr>
              <a:t>&lt;Secondary Color&gt;</a:t>
            </a:r>
            <a:endParaRPr sz="1000" b="1" dirty="0">
              <a:solidFill>
                <a:srgbClr val="262626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159" name="Google Shape;159;p2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023633" y="1608116"/>
            <a:ext cx="352425" cy="352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p2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528458" y="1608116"/>
            <a:ext cx="371475" cy="371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p2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052333" y="1608116"/>
            <a:ext cx="352425" cy="352425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22"/>
          <p:cNvSpPr txBox="1"/>
          <p:nvPr/>
        </p:nvSpPr>
        <p:spPr>
          <a:xfrm>
            <a:off x="2914671" y="1912979"/>
            <a:ext cx="5748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700"/>
              <a:t>#D4D3D1</a:t>
            </a:r>
            <a:endParaRPr sz="700"/>
          </a:p>
        </p:txBody>
      </p:sp>
      <p:sp>
        <p:nvSpPr>
          <p:cNvPr id="163" name="Google Shape;163;p22"/>
          <p:cNvSpPr txBox="1"/>
          <p:nvPr/>
        </p:nvSpPr>
        <p:spPr>
          <a:xfrm>
            <a:off x="3425372" y="1912979"/>
            <a:ext cx="5748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700"/>
              <a:t>#A79C8E</a:t>
            </a:r>
            <a:endParaRPr sz="700"/>
          </a:p>
        </p:txBody>
      </p:sp>
      <p:sp>
        <p:nvSpPr>
          <p:cNvPr id="164" name="Google Shape;164;p22"/>
          <p:cNvSpPr txBox="1"/>
          <p:nvPr/>
        </p:nvSpPr>
        <p:spPr>
          <a:xfrm>
            <a:off x="3948832" y="1912979"/>
            <a:ext cx="6339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700"/>
              <a:t>#CBB79B</a:t>
            </a:r>
            <a:endParaRPr sz="700"/>
          </a:p>
        </p:txBody>
      </p:sp>
      <p:sp>
        <p:nvSpPr>
          <p:cNvPr id="165" name="Google Shape;165;p22"/>
          <p:cNvSpPr txBox="1">
            <a:spLocks noGrp="1"/>
          </p:cNvSpPr>
          <p:nvPr>
            <p:ph type="subTitle" idx="1"/>
          </p:nvPr>
        </p:nvSpPr>
        <p:spPr>
          <a:xfrm>
            <a:off x="4663995" y="1139474"/>
            <a:ext cx="1725900" cy="37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ko" sz="1000" b="1" dirty="0">
                <a:solidFill>
                  <a:srgbClr val="262626"/>
                </a:solidFill>
                <a:latin typeface="Consolas"/>
                <a:ea typeface="Consolas"/>
                <a:cs typeface="Consolas"/>
                <a:sym typeface="Consolas"/>
              </a:rPr>
              <a:t>&lt;Typography&gt;</a:t>
            </a:r>
            <a:endParaRPr sz="1000" b="1" dirty="0">
              <a:solidFill>
                <a:srgbClr val="262626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66" name="Google Shape;166;p22"/>
          <p:cNvSpPr txBox="1"/>
          <p:nvPr/>
        </p:nvSpPr>
        <p:spPr>
          <a:xfrm>
            <a:off x="4791950" y="1370557"/>
            <a:ext cx="4142400" cy="10002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 sz="1000" dirty="0">
                <a:latin typeface="Consolas"/>
                <a:ea typeface="Consolas"/>
                <a:cs typeface="Consolas"/>
                <a:sym typeface="Consolas"/>
              </a:rPr>
              <a:t>메인 폰트(Main Font): 프리텐다드, 14px, (기본 본문)</a:t>
            </a:r>
            <a:endParaRPr sz="1000"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ko" sz="1000" dirty="0">
                <a:latin typeface="Consolas"/>
                <a:ea typeface="Consolas"/>
                <a:cs typeface="Consolas"/>
                <a:sym typeface="Consolas"/>
              </a:rPr>
              <a:t>강조 폰트(Accent Font): 프리텐다드 Bold, 20px, (제목/버튼)</a:t>
            </a:r>
            <a:endParaRPr sz="1000"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67" name="Google Shape;167;p22"/>
          <p:cNvSpPr txBox="1">
            <a:spLocks noGrp="1"/>
          </p:cNvSpPr>
          <p:nvPr>
            <p:ph type="subTitle" idx="1"/>
          </p:nvPr>
        </p:nvSpPr>
        <p:spPr>
          <a:xfrm>
            <a:off x="316752" y="1609768"/>
            <a:ext cx="1139100" cy="3777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ko" sz="1300" b="1" dirty="0">
                <a:solidFill>
                  <a:srgbClr val="E8E8E1"/>
                </a:solidFill>
                <a:latin typeface="Consolas"/>
                <a:ea typeface="Consolas"/>
                <a:cs typeface="Consolas"/>
                <a:sym typeface="Consolas"/>
              </a:rPr>
              <a:t>PJT Common</a:t>
            </a:r>
            <a:endParaRPr sz="1300" b="1" dirty="0">
              <a:solidFill>
                <a:srgbClr val="E8E8E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68" name="Google Shape;168;p22"/>
          <p:cNvSpPr/>
          <p:nvPr/>
        </p:nvSpPr>
        <p:spPr>
          <a:xfrm>
            <a:off x="184000" y="2571750"/>
            <a:ext cx="1704300" cy="2387700"/>
          </a:xfrm>
          <a:prstGeom prst="rect">
            <a:avLst/>
          </a:prstGeom>
          <a:solidFill>
            <a:schemeClr val="dk1"/>
          </a:solidFill>
          <a:ln w="9525" cap="flat" cmpd="sng">
            <a:solidFill>
              <a:srgbClr val="E8E8E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9" name="Google Shape;169;p22"/>
          <p:cNvSpPr txBox="1">
            <a:spLocks noGrp="1"/>
          </p:cNvSpPr>
          <p:nvPr>
            <p:ph type="subTitle" idx="1"/>
          </p:nvPr>
        </p:nvSpPr>
        <p:spPr>
          <a:xfrm>
            <a:off x="316775" y="2658425"/>
            <a:ext cx="1452000" cy="3777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ko" sz="1300" b="1">
                <a:solidFill>
                  <a:srgbClr val="E8E8E1"/>
                </a:solidFill>
                <a:latin typeface="Consolas"/>
                <a:ea typeface="Consolas"/>
                <a:cs typeface="Consolas"/>
                <a:sym typeface="Consolas"/>
              </a:rPr>
              <a:t>BYREDO</a:t>
            </a:r>
            <a:endParaRPr sz="1300" b="1">
              <a:solidFill>
                <a:srgbClr val="E8E8E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70" name="Google Shape;170;p22"/>
          <p:cNvSpPr/>
          <p:nvPr/>
        </p:nvSpPr>
        <p:spPr>
          <a:xfrm>
            <a:off x="1949304" y="2571750"/>
            <a:ext cx="1704300" cy="2387700"/>
          </a:xfrm>
          <a:prstGeom prst="rect">
            <a:avLst/>
          </a:prstGeom>
          <a:solidFill>
            <a:schemeClr val="dk1"/>
          </a:solidFill>
          <a:ln w="9525" cap="flat" cmpd="sng">
            <a:solidFill>
              <a:srgbClr val="E8E8E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1" name="Google Shape;171;p22"/>
          <p:cNvSpPr txBox="1">
            <a:spLocks noGrp="1"/>
          </p:cNvSpPr>
          <p:nvPr>
            <p:ph type="subTitle" idx="1"/>
          </p:nvPr>
        </p:nvSpPr>
        <p:spPr>
          <a:xfrm>
            <a:off x="2072932" y="2658425"/>
            <a:ext cx="1452000" cy="3777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altLang="ko" sz="1300" b="1" dirty="0" smtClean="0">
                <a:solidFill>
                  <a:srgbClr val="E8E8E1"/>
                </a:solidFill>
                <a:latin typeface="Consolas"/>
                <a:ea typeface="Consolas"/>
                <a:cs typeface="Consolas"/>
                <a:sym typeface="Consolas"/>
              </a:rPr>
              <a:t>TOM FORD</a:t>
            </a:r>
            <a:endParaRPr sz="1300" b="1" dirty="0">
              <a:solidFill>
                <a:srgbClr val="E8E8E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72" name="Google Shape;172;p22"/>
          <p:cNvSpPr/>
          <p:nvPr/>
        </p:nvSpPr>
        <p:spPr>
          <a:xfrm>
            <a:off x="3709556" y="2571750"/>
            <a:ext cx="1704300" cy="2387700"/>
          </a:xfrm>
          <a:prstGeom prst="rect">
            <a:avLst/>
          </a:prstGeom>
          <a:solidFill>
            <a:schemeClr val="dk1"/>
          </a:solidFill>
          <a:ln w="9525" cap="flat" cmpd="sng">
            <a:solidFill>
              <a:srgbClr val="E8E8E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" name="Google Shape;173;p22"/>
          <p:cNvSpPr txBox="1">
            <a:spLocks noGrp="1"/>
          </p:cNvSpPr>
          <p:nvPr>
            <p:ph type="subTitle" idx="1"/>
          </p:nvPr>
        </p:nvSpPr>
        <p:spPr>
          <a:xfrm>
            <a:off x="3835698" y="2663475"/>
            <a:ext cx="1452000" cy="3777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altLang="ko" sz="1300" b="1" dirty="0" smtClean="0">
                <a:solidFill>
                  <a:srgbClr val="E8E8E1"/>
                </a:solidFill>
                <a:latin typeface="Consolas"/>
                <a:ea typeface="Consolas"/>
                <a:cs typeface="Consolas"/>
                <a:sym typeface="Consolas"/>
              </a:rPr>
              <a:t>LE RABO</a:t>
            </a:r>
            <a:endParaRPr sz="1300" b="1" dirty="0">
              <a:solidFill>
                <a:srgbClr val="E8E8E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74" name="Google Shape;174;p22"/>
          <p:cNvSpPr/>
          <p:nvPr/>
        </p:nvSpPr>
        <p:spPr>
          <a:xfrm>
            <a:off x="5469801" y="2571750"/>
            <a:ext cx="1704300" cy="2387700"/>
          </a:xfrm>
          <a:prstGeom prst="rect">
            <a:avLst/>
          </a:prstGeom>
          <a:solidFill>
            <a:schemeClr val="dk1"/>
          </a:solidFill>
          <a:ln w="9525" cap="flat" cmpd="sng">
            <a:solidFill>
              <a:srgbClr val="E8E8E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5" name="Google Shape;175;p22"/>
          <p:cNvSpPr txBox="1">
            <a:spLocks noGrp="1"/>
          </p:cNvSpPr>
          <p:nvPr>
            <p:ph type="subTitle" idx="1"/>
          </p:nvPr>
        </p:nvSpPr>
        <p:spPr>
          <a:xfrm>
            <a:off x="5595947" y="2663475"/>
            <a:ext cx="1452000" cy="3777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altLang="ko" sz="1300" b="1" dirty="0" smtClean="0">
                <a:solidFill>
                  <a:srgbClr val="E8E8E1"/>
                </a:solidFill>
                <a:latin typeface="Consolas"/>
                <a:ea typeface="Consolas"/>
                <a:cs typeface="Consolas"/>
                <a:sym typeface="Consolas"/>
              </a:rPr>
              <a:t>BURBERRY</a:t>
            </a:r>
            <a:endParaRPr sz="1300" b="1" dirty="0">
              <a:solidFill>
                <a:srgbClr val="E8E8E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76" name="Google Shape;176;p22"/>
          <p:cNvSpPr/>
          <p:nvPr/>
        </p:nvSpPr>
        <p:spPr>
          <a:xfrm>
            <a:off x="7230050" y="2571750"/>
            <a:ext cx="1704300" cy="2387700"/>
          </a:xfrm>
          <a:prstGeom prst="rect">
            <a:avLst/>
          </a:prstGeom>
          <a:solidFill>
            <a:schemeClr val="dk1"/>
          </a:solidFill>
          <a:ln w="9525" cap="flat" cmpd="sng">
            <a:solidFill>
              <a:srgbClr val="E8E8E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7" name="Google Shape;177;p22"/>
          <p:cNvSpPr txBox="1">
            <a:spLocks noGrp="1"/>
          </p:cNvSpPr>
          <p:nvPr>
            <p:ph type="subTitle" idx="1"/>
          </p:nvPr>
        </p:nvSpPr>
        <p:spPr>
          <a:xfrm>
            <a:off x="7356188" y="2663950"/>
            <a:ext cx="1452000" cy="3777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</a:pPr>
            <a:r>
              <a:rPr lang="en-US" altLang="ko" sz="1300" b="1" dirty="0">
                <a:solidFill>
                  <a:srgbClr val="E8E8E1"/>
                </a:solidFill>
                <a:latin typeface="Consolas"/>
                <a:ea typeface="Consolas"/>
                <a:cs typeface="Consolas"/>
                <a:sym typeface="Consolas"/>
              </a:rPr>
              <a:t>MAISON MARGIELA</a:t>
            </a:r>
            <a:endParaRPr sz="1300" b="1" dirty="0">
              <a:solidFill>
                <a:srgbClr val="E8E8E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78" name="Google Shape;178;p22"/>
          <p:cNvSpPr txBox="1"/>
          <p:nvPr/>
        </p:nvSpPr>
        <p:spPr>
          <a:xfrm>
            <a:off x="316775" y="3041650"/>
            <a:ext cx="14520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/>
              <a:t>"Soft Geometry"</a:t>
            </a:r>
            <a:endParaRPr sz="80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/>
              <a:t>감각적 절제, 현대적이고 차가운 미니멀리즘</a:t>
            </a:r>
            <a:endParaRPr sz="800"/>
          </a:p>
        </p:txBody>
      </p:sp>
      <p:sp>
        <p:nvSpPr>
          <p:cNvPr id="179" name="Google Shape;179;p22"/>
          <p:cNvSpPr txBox="1"/>
          <p:nvPr/>
        </p:nvSpPr>
        <p:spPr>
          <a:xfrm>
            <a:off x="2072925" y="3041650"/>
            <a:ext cx="1452000" cy="6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/>
              <a:t>“Power of Presence”,</a:t>
            </a:r>
            <a:endParaRPr sz="80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/>
              <a:t> "Dark Seduction"</a:t>
            </a:r>
            <a:endParaRPr sz="80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/>
              <a:t>섹시함, 고급스러움, 카리스마, 하이컨트라스트</a:t>
            </a:r>
            <a:endParaRPr sz="800"/>
          </a:p>
        </p:txBody>
      </p:sp>
      <p:sp>
        <p:nvSpPr>
          <p:cNvPr id="180" name="Google Shape;180;p22"/>
          <p:cNvSpPr txBox="1"/>
          <p:nvPr/>
        </p:nvSpPr>
        <p:spPr>
          <a:xfrm>
            <a:off x="3835700" y="3036125"/>
            <a:ext cx="14520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/>
              <a:t>"Raw Identity", “Crafted”</a:t>
            </a:r>
            <a:endParaRPr sz="80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/>
              <a:t>실험적, 수공예, 뉴욕 감성, 도시적</a:t>
            </a:r>
            <a:endParaRPr sz="800"/>
          </a:p>
        </p:txBody>
      </p:sp>
      <p:sp>
        <p:nvSpPr>
          <p:cNvPr id="181" name="Google Shape;181;p22"/>
          <p:cNvSpPr txBox="1"/>
          <p:nvPr/>
        </p:nvSpPr>
        <p:spPr>
          <a:xfrm>
            <a:off x="5595950" y="3036125"/>
            <a:ext cx="14520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/>
              <a:t>“British Classic”</a:t>
            </a:r>
            <a:endParaRPr sz="80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/>
              <a:t>트렌치, 비, 헤리티지, 절제된 우아함, 클래식과 모던의 공존</a:t>
            </a:r>
            <a:endParaRPr sz="800"/>
          </a:p>
        </p:txBody>
      </p:sp>
      <p:sp>
        <p:nvSpPr>
          <p:cNvPr id="182" name="Google Shape;182;p22"/>
          <p:cNvSpPr txBox="1"/>
          <p:nvPr/>
        </p:nvSpPr>
        <p:spPr>
          <a:xfrm>
            <a:off x="7354625" y="3041650"/>
            <a:ext cx="14520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/>
              <a:t>“Memory in a Bottle”</a:t>
            </a:r>
            <a:endParaRPr sz="80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/>
              <a:t>추억과 기억, 일상 속 감정, 순간의 재현</a:t>
            </a:r>
            <a:endParaRPr sz="800"/>
          </a:p>
        </p:txBody>
      </p:sp>
      <p:pic>
        <p:nvPicPr>
          <p:cNvPr id="193" name="Google Shape;193;p22"/>
          <p:cNvPicPr preferRelativeResize="0"/>
          <p:nvPr/>
        </p:nvPicPr>
        <p:blipFill rotWithShape="1">
          <a:blip r:embed="rId8">
            <a:alphaModFix/>
          </a:blip>
          <a:srcRect l="26522" t="40461" r="26352" b="38306"/>
          <a:stretch/>
        </p:blipFill>
        <p:spPr>
          <a:xfrm>
            <a:off x="200786" y="4412291"/>
            <a:ext cx="1676608" cy="377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22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1949425" y="4369741"/>
            <a:ext cx="1704301" cy="466216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p22"/>
          <p:cNvPicPr preferRelativeResize="0"/>
          <p:nvPr/>
        </p:nvPicPr>
        <p:blipFill rotWithShape="1">
          <a:blip r:embed="rId10">
            <a:alphaModFix/>
          </a:blip>
          <a:srcRect t="25220" b="23808"/>
          <a:stretch/>
        </p:blipFill>
        <p:spPr>
          <a:xfrm>
            <a:off x="3714871" y="4396327"/>
            <a:ext cx="1704300" cy="377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" name="Google Shape;196;p22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5755901" y="4431403"/>
            <a:ext cx="1137416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22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7558740" y="4364420"/>
            <a:ext cx="1217206" cy="519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" name="Google Shape;183;p22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293200" y="3740073"/>
            <a:ext cx="1485900" cy="409575"/>
          </a:xfrm>
          <a:prstGeom prst="rect">
            <a:avLst/>
          </a:prstGeom>
          <a:solidFill>
            <a:schemeClr val="dk1"/>
          </a:solidFill>
          <a:ln w="9525" cap="flat" cmpd="sng">
            <a:solidFill>
              <a:srgbClr val="E8E8E1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184" name="Google Shape;184;p22"/>
          <p:cNvSpPr txBox="1"/>
          <p:nvPr/>
        </p:nvSpPr>
        <p:spPr>
          <a:xfrm>
            <a:off x="184150" y="4096448"/>
            <a:ext cx="17043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700"/>
              <a:t>#FFFFFF        #000000        #D9D9D9</a:t>
            </a:r>
            <a:endParaRPr sz="700"/>
          </a:p>
        </p:txBody>
      </p:sp>
      <p:pic>
        <p:nvPicPr>
          <p:cNvPr id="185" name="Google Shape;185;p22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2075100" y="3744835"/>
            <a:ext cx="1447800" cy="400050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22"/>
          <p:cNvSpPr txBox="1"/>
          <p:nvPr/>
        </p:nvSpPr>
        <p:spPr>
          <a:xfrm>
            <a:off x="1949425" y="4096460"/>
            <a:ext cx="17043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700"/>
              <a:t>#1C1C1C       #603E3E       #B4977B</a:t>
            </a:r>
            <a:endParaRPr sz="700"/>
          </a:p>
        </p:txBody>
      </p:sp>
      <p:pic>
        <p:nvPicPr>
          <p:cNvPr id="187" name="Google Shape;187;p22"/>
          <p:cNvPicPr preferRelativeResize="0"/>
          <p:nvPr/>
        </p:nvPicPr>
        <p:blipFill>
          <a:blip r:embed="rId15">
            <a:alphaModFix/>
          </a:blip>
          <a:stretch>
            <a:fillRect/>
          </a:stretch>
        </p:blipFill>
        <p:spPr>
          <a:xfrm>
            <a:off x="3833470" y="3730535"/>
            <a:ext cx="1456592" cy="400050"/>
          </a:xfrm>
          <a:prstGeom prst="rect">
            <a:avLst/>
          </a:prstGeom>
          <a:solidFill>
            <a:schemeClr val="dk1"/>
          </a:solidFill>
          <a:ln w="9525" cap="flat" cmpd="sng">
            <a:solidFill>
              <a:srgbClr val="E8E8E1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188" name="Google Shape;188;p22"/>
          <p:cNvSpPr txBox="1"/>
          <p:nvPr/>
        </p:nvSpPr>
        <p:spPr>
          <a:xfrm>
            <a:off x="3687925" y="4096460"/>
            <a:ext cx="17259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700"/>
              <a:t>#D9D9D6      #8C8C88       #2E2E2E</a:t>
            </a:r>
            <a:endParaRPr sz="700"/>
          </a:p>
        </p:txBody>
      </p:sp>
      <p:pic>
        <p:nvPicPr>
          <p:cNvPr id="189" name="Google Shape;189;p22"/>
          <p:cNvPicPr preferRelativeResize="0"/>
          <p:nvPr/>
        </p:nvPicPr>
        <p:blipFill>
          <a:blip r:embed="rId16">
            <a:alphaModFix/>
          </a:blip>
          <a:stretch>
            <a:fillRect/>
          </a:stretch>
        </p:blipFill>
        <p:spPr>
          <a:xfrm>
            <a:off x="5564713" y="3721010"/>
            <a:ext cx="1514475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22"/>
          <p:cNvSpPr txBox="1"/>
          <p:nvPr/>
        </p:nvSpPr>
        <p:spPr>
          <a:xfrm>
            <a:off x="5469788" y="4096460"/>
            <a:ext cx="17043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700"/>
              <a:t>#E2D4C1        #C3A67A        #231F20</a:t>
            </a:r>
            <a:endParaRPr sz="700"/>
          </a:p>
        </p:txBody>
      </p:sp>
      <p:pic>
        <p:nvPicPr>
          <p:cNvPr id="191" name="Google Shape;191;p22"/>
          <p:cNvPicPr preferRelativeResize="0"/>
          <p:nvPr/>
        </p:nvPicPr>
        <p:blipFill>
          <a:blip r:embed="rId17">
            <a:alphaModFix/>
          </a:blip>
          <a:stretch>
            <a:fillRect/>
          </a:stretch>
        </p:blipFill>
        <p:spPr>
          <a:xfrm>
            <a:off x="7332528" y="3740073"/>
            <a:ext cx="1495425" cy="409575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22"/>
          <p:cNvSpPr txBox="1"/>
          <p:nvPr/>
        </p:nvSpPr>
        <p:spPr>
          <a:xfrm>
            <a:off x="7230050" y="4096460"/>
            <a:ext cx="17043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700"/>
              <a:t>#E8E4E0       #C7BDB5        #403C39</a:t>
            </a:r>
            <a:endParaRPr sz="7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23"/>
          <p:cNvSpPr txBox="1">
            <a:spLocks noGrp="1"/>
          </p:cNvSpPr>
          <p:nvPr>
            <p:ph type="ctrTitle"/>
          </p:nvPr>
        </p:nvSpPr>
        <p:spPr>
          <a:xfrm>
            <a:off x="183975" y="42175"/>
            <a:ext cx="6262500" cy="57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2800"/>
              <a:t>실제 구현 사이트</a:t>
            </a:r>
            <a:endParaRPr sz="2800"/>
          </a:p>
        </p:txBody>
      </p:sp>
      <p:sp>
        <p:nvSpPr>
          <p:cNvPr id="203" name="Google Shape;203;p23"/>
          <p:cNvSpPr/>
          <p:nvPr/>
        </p:nvSpPr>
        <p:spPr>
          <a:xfrm>
            <a:off x="3550" y="583925"/>
            <a:ext cx="6442800" cy="31800"/>
          </a:xfrm>
          <a:prstGeom prst="rect">
            <a:avLst/>
          </a:prstGeom>
          <a:solidFill>
            <a:srgbClr val="E8E8E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4" name="Google Shape;204;p23">
            <a:hlinkClick r:id="rId3"/>
          </p:cNvPr>
          <p:cNvSpPr txBox="1"/>
          <p:nvPr/>
        </p:nvSpPr>
        <p:spPr>
          <a:xfrm>
            <a:off x="1103261" y="3246393"/>
            <a:ext cx="69375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2400" dirty="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https://xugu0728.github.io/EFFE/</a:t>
            </a:r>
            <a:endParaRPr sz="2400" dirty="0">
              <a:solidFill>
                <a:srgbClr val="80808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06" name="Google Shape;206;p23"/>
          <p:cNvSpPr/>
          <p:nvPr/>
        </p:nvSpPr>
        <p:spPr>
          <a:xfrm>
            <a:off x="1350600" y="3113350"/>
            <a:ext cx="6442800" cy="31800"/>
          </a:xfrm>
          <a:prstGeom prst="rect">
            <a:avLst/>
          </a:prstGeom>
          <a:solidFill>
            <a:srgbClr val="E8E8E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7" name="Google Shape;108;p17" title="logo_white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72229" y="1457738"/>
            <a:ext cx="3586930" cy="13450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24"/>
          <p:cNvSpPr txBox="1">
            <a:spLocks noGrp="1"/>
          </p:cNvSpPr>
          <p:nvPr>
            <p:ph type="ctrTitle"/>
          </p:nvPr>
        </p:nvSpPr>
        <p:spPr>
          <a:xfrm>
            <a:off x="183975" y="42175"/>
            <a:ext cx="6262500" cy="57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2800"/>
              <a:t>3.  기능소개 - 스크린체인지</a:t>
            </a:r>
            <a:endParaRPr sz="2800"/>
          </a:p>
        </p:txBody>
      </p:sp>
      <p:sp>
        <p:nvSpPr>
          <p:cNvPr id="212" name="Google Shape;212;p24"/>
          <p:cNvSpPr txBox="1">
            <a:spLocks noGrp="1"/>
          </p:cNvSpPr>
          <p:nvPr>
            <p:ph type="subTitle" idx="1"/>
          </p:nvPr>
        </p:nvSpPr>
        <p:spPr>
          <a:xfrm>
            <a:off x="183975" y="4210875"/>
            <a:ext cx="8816100" cy="755700"/>
          </a:xfrm>
          <a:prstGeom prst="rect">
            <a:avLst/>
          </a:prstGeom>
          <a:noFill/>
          <a:ln w="9525" cap="flat" cmpd="sng">
            <a:solidFill>
              <a:srgbClr val="8080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0" rIns="91425" bIns="91425" anchor="t" anchorCtr="0">
            <a:normAutofit fontScale="92500" lnSpcReduction="10000"/>
          </a:bodyPr>
          <a:lstStyle/>
          <a:p>
            <a:pPr marL="457200" lvl="0" indent="-295275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E8E8E1"/>
              </a:buClr>
              <a:buSzPts val="1050"/>
              <a:buFont typeface="Consolas"/>
              <a:buChar char="●"/>
            </a:pPr>
            <a:r>
              <a:rPr lang="ko" sz="1050" dirty="0">
                <a:solidFill>
                  <a:srgbClr val="E8E8E1"/>
                </a:solidFill>
                <a:latin typeface="Consolas"/>
                <a:ea typeface="Consolas"/>
                <a:cs typeface="Consolas"/>
                <a:sym typeface="Consolas"/>
              </a:rPr>
              <a:t>총 9개의 셋타임아웃을 사용</a:t>
            </a:r>
            <a:endParaRPr sz="1050" dirty="0">
              <a:solidFill>
                <a:srgbClr val="E8E8E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-29527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8E8E1"/>
              </a:buClr>
              <a:buSzPts val="1050"/>
              <a:buFont typeface="Consolas"/>
              <a:buChar char="●"/>
            </a:pPr>
            <a:r>
              <a:rPr lang="ko" sz="1050" dirty="0">
                <a:solidFill>
                  <a:srgbClr val="E8E8E1"/>
                </a:solidFill>
                <a:latin typeface="Consolas"/>
                <a:ea typeface="Consolas"/>
                <a:cs typeface="Consolas"/>
                <a:sym typeface="Consolas"/>
              </a:rPr>
              <a:t>텍스트 길이에 따른 시간배분 (600ms ~ </a:t>
            </a:r>
            <a:r>
              <a:rPr lang="en-US" altLang="ko" sz="1050" dirty="0" smtClean="0">
                <a:solidFill>
                  <a:srgbClr val="E8E8E1"/>
                </a:solidFill>
                <a:latin typeface="Consolas"/>
                <a:ea typeface="Consolas"/>
                <a:cs typeface="Consolas"/>
                <a:sym typeface="Consolas"/>
              </a:rPr>
              <a:t>1000ms / ~ </a:t>
            </a:r>
            <a:r>
              <a:rPr lang="ko" sz="1050" dirty="0" smtClean="0">
                <a:solidFill>
                  <a:srgbClr val="E8E8E1"/>
                </a:solidFill>
                <a:latin typeface="Consolas"/>
                <a:ea typeface="Consolas"/>
                <a:cs typeface="Consolas"/>
                <a:sym typeface="Consolas"/>
              </a:rPr>
              <a:t>4800ms</a:t>
            </a:r>
            <a:r>
              <a:rPr lang="ko" sz="1050" dirty="0">
                <a:solidFill>
                  <a:srgbClr val="E8E8E1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1050" dirty="0">
              <a:solidFill>
                <a:srgbClr val="E8E8E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lvl="0" indent="-295275" algn="l">
              <a:lnSpc>
                <a:spcPct val="115000"/>
              </a:lnSpc>
              <a:buClr>
                <a:srgbClr val="E8E8E1"/>
              </a:buClr>
              <a:buSzPts val="1050"/>
              <a:buFont typeface="Consolas"/>
              <a:buChar char="●"/>
            </a:pPr>
            <a:r>
              <a:rPr lang="en-US" altLang="ko" sz="1050" dirty="0">
                <a:solidFill>
                  <a:srgbClr val="E8E8E1"/>
                </a:solidFill>
                <a:latin typeface="Consolas"/>
                <a:ea typeface="Consolas"/>
                <a:cs typeface="Consolas"/>
                <a:sym typeface="Consolas"/>
              </a:rPr>
              <a:t>{once: true</a:t>
            </a:r>
            <a:r>
              <a:rPr lang="en-US" altLang="ko" sz="1050" dirty="0" smtClean="0">
                <a:solidFill>
                  <a:srgbClr val="E8E8E1"/>
                </a:solidFill>
                <a:latin typeface="Consolas"/>
                <a:ea typeface="Consolas"/>
                <a:cs typeface="Consolas"/>
                <a:sym typeface="Consolas"/>
              </a:rPr>
              <a:t>} </a:t>
            </a:r>
            <a:r>
              <a:rPr lang="ko" sz="1050" dirty="0" smtClean="0">
                <a:solidFill>
                  <a:srgbClr val="E8E8E1"/>
                </a:solidFill>
                <a:latin typeface="Consolas"/>
                <a:ea typeface="Consolas"/>
                <a:cs typeface="Consolas"/>
                <a:sym typeface="Consolas"/>
              </a:rPr>
              <a:t>실행으로 프로젝트명을 강조</a:t>
            </a:r>
            <a:endParaRPr sz="1050" dirty="0">
              <a:solidFill>
                <a:srgbClr val="E8E8E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13" name="Google Shape;213;p24"/>
          <p:cNvSpPr/>
          <p:nvPr/>
        </p:nvSpPr>
        <p:spPr>
          <a:xfrm>
            <a:off x="3550" y="583925"/>
            <a:ext cx="6442800" cy="31800"/>
          </a:xfrm>
          <a:prstGeom prst="rect">
            <a:avLst/>
          </a:prstGeom>
          <a:solidFill>
            <a:srgbClr val="E8E8E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4" name="Google Shape;214;p24"/>
          <p:cNvSpPr txBox="1"/>
          <p:nvPr/>
        </p:nvSpPr>
        <p:spPr>
          <a:xfrm>
            <a:off x="183800" y="2953249"/>
            <a:ext cx="8816100" cy="56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chemeClr val="dk1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1. </a:t>
            </a:r>
            <a:r>
              <a:rPr lang="ko" sz="1050">
                <a:solidFill>
                  <a:srgbClr val="DCDCAA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setTimeout</a:t>
            </a:r>
            <a:r>
              <a:rPr lang="ko" sz="105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(() </a:t>
            </a:r>
            <a:r>
              <a:rPr lang="ko" sz="1050">
                <a:solidFill>
                  <a:srgbClr val="569CD6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=&gt;</a:t>
            </a:r>
            <a:r>
              <a:rPr lang="ko" sz="105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ko" sz="105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mainText</a:t>
            </a:r>
            <a:r>
              <a:rPr lang="ko" sz="105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ko" sz="1050">
                <a:solidFill>
                  <a:srgbClr val="DCDCAA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forEach</a:t>
            </a:r>
            <a:r>
              <a:rPr lang="ko" sz="105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((</a:t>
            </a:r>
            <a:r>
              <a:rPr lang="ko" sz="105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el</a:t>
            </a:r>
            <a:r>
              <a:rPr lang="ko" sz="105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ko" sz="105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ko" sz="105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) </a:t>
            </a:r>
            <a:r>
              <a:rPr lang="ko" sz="1050">
                <a:solidFill>
                  <a:srgbClr val="569CD6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=&gt;</a:t>
            </a:r>
            <a:r>
              <a:rPr lang="ko" sz="105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ko" sz="1050">
                <a:solidFill>
                  <a:srgbClr val="DCDCAA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setTimeout</a:t>
            </a:r>
            <a:r>
              <a:rPr lang="ko" sz="105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(() </a:t>
            </a:r>
            <a:r>
              <a:rPr lang="ko" sz="1050">
                <a:solidFill>
                  <a:srgbClr val="569CD6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=&gt;</a:t>
            </a:r>
            <a:r>
              <a:rPr lang="ko" sz="105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ko" sz="105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el</a:t>
            </a:r>
            <a:r>
              <a:rPr lang="ko" sz="105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ko" sz="105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classList</a:t>
            </a:r>
            <a:r>
              <a:rPr lang="ko" sz="105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ko" sz="1050">
                <a:solidFill>
                  <a:srgbClr val="DCDCAA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add</a:t>
            </a:r>
            <a:r>
              <a:rPr lang="ko" sz="105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ko" sz="1050">
                <a:solidFill>
                  <a:srgbClr val="CE9178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'onMove'</a:t>
            </a:r>
            <a:r>
              <a:rPr lang="ko" sz="105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), </a:t>
            </a:r>
            <a:r>
              <a:rPr lang="ko" sz="105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ko" sz="105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ko" sz="1050">
                <a:solidFill>
                  <a:srgbClr val="D4D4D4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*</a:t>
            </a:r>
            <a:r>
              <a:rPr lang="ko" sz="105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ko" sz="1050">
                <a:solidFill>
                  <a:srgbClr val="B5CEA8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800</a:t>
            </a:r>
            <a:r>
              <a:rPr lang="ko" sz="105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)), </a:t>
            </a:r>
            <a:r>
              <a:rPr lang="ko" sz="1050">
                <a:solidFill>
                  <a:srgbClr val="B5CEA8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2000</a:t>
            </a:r>
            <a:r>
              <a:rPr lang="ko" sz="105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1050">
              <a:solidFill>
                <a:srgbClr val="CCCCCC"/>
              </a:solidFill>
              <a:highlight>
                <a:srgbClr val="1F1F1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50">
              <a:solidFill>
                <a:srgbClr val="CCCCCC"/>
              </a:solidFill>
              <a:highlight>
                <a:srgbClr val="1F1F1F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15" name="Google Shape;215;p24"/>
          <p:cNvSpPr txBox="1"/>
          <p:nvPr/>
        </p:nvSpPr>
        <p:spPr>
          <a:xfrm>
            <a:off x="183975" y="3571969"/>
            <a:ext cx="8816100" cy="78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 dirty="0">
                <a:solidFill>
                  <a:schemeClr val="dk1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2. </a:t>
            </a:r>
            <a:r>
              <a:rPr lang="ko" sz="1050" dirty="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changeLen</a:t>
            </a:r>
            <a:r>
              <a:rPr lang="ko" sz="1050" dirty="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ko" sz="1050" dirty="0">
                <a:solidFill>
                  <a:srgbClr val="DCDCAA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addEventListener</a:t>
            </a:r>
            <a:r>
              <a:rPr lang="ko" sz="1050" dirty="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ko" sz="1050" dirty="0">
                <a:solidFill>
                  <a:srgbClr val="CE9178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'transitionend'</a:t>
            </a:r>
            <a:r>
              <a:rPr lang="ko" sz="1050" dirty="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, () </a:t>
            </a:r>
            <a:r>
              <a:rPr lang="ko" sz="1050" dirty="0">
                <a:solidFill>
                  <a:srgbClr val="569CD6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=&gt;</a:t>
            </a:r>
            <a:r>
              <a:rPr lang="ko" sz="1050" dirty="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ko" sz="1050" dirty="0">
                <a:solidFill>
                  <a:srgbClr val="DCDCAA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setTimeout</a:t>
            </a:r>
            <a:r>
              <a:rPr lang="ko" sz="1050" dirty="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(() </a:t>
            </a:r>
            <a:r>
              <a:rPr lang="ko" sz="1050" dirty="0">
                <a:solidFill>
                  <a:srgbClr val="569CD6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=&gt;</a:t>
            </a:r>
            <a:r>
              <a:rPr lang="ko" sz="1050" dirty="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ko" sz="1050" dirty="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mainText</a:t>
            </a:r>
            <a:r>
              <a:rPr lang="ko" sz="1050" dirty="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ko" sz="1050" dirty="0">
                <a:solidFill>
                  <a:srgbClr val="DCDCAA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forEach</a:t>
            </a:r>
            <a:r>
              <a:rPr lang="ko" sz="1050" dirty="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((</a:t>
            </a:r>
            <a:r>
              <a:rPr lang="ko" sz="1050" dirty="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el</a:t>
            </a:r>
            <a:r>
              <a:rPr lang="ko" sz="1050" dirty="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ko" sz="1050" dirty="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ko" sz="1050" dirty="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) </a:t>
            </a:r>
            <a:r>
              <a:rPr lang="ko" sz="1050" dirty="0">
                <a:solidFill>
                  <a:srgbClr val="569CD6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=&gt;</a:t>
            </a:r>
            <a:r>
              <a:rPr lang="ko" sz="1050" dirty="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ko" sz="1050" dirty="0">
                <a:solidFill>
                  <a:srgbClr val="DCDCAA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setTimeout</a:t>
            </a:r>
            <a:r>
              <a:rPr lang="ko" sz="1050" dirty="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(() </a:t>
            </a:r>
            <a:r>
              <a:rPr lang="ko" sz="1050" dirty="0">
                <a:solidFill>
                  <a:srgbClr val="569CD6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=&gt;</a:t>
            </a:r>
            <a:r>
              <a:rPr lang="ko" sz="1050" dirty="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ko" sz="1050" dirty="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el</a:t>
            </a:r>
            <a:r>
              <a:rPr lang="ko" sz="1050" dirty="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ko" sz="1050" dirty="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classList</a:t>
            </a:r>
            <a:r>
              <a:rPr lang="ko" sz="1050" dirty="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ko" sz="1050" dirty="0">
                <a:solidFill>
                  <a:srgbClr val="DCDCAA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remove</a:t>
            </a:r>
            <a:r>
              <a:rPr lang="ko" sz="1050" dirty="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ko" sz="1050" dirty="0">
                <a:solidFill>
                  <a:srgbClr val="CE9178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'onMove'</a:t>
            </a:r>
            <a:r>
              <a:rPr lang="ko" sz="1050" dirty="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), </a:t>
            </a:r>
            <a:r>
              <a:rPr lang="ko" sz="1050" dirty="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ko" sz="1050" dirty="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ko" sz="1050" dirty="0">
                <a:solidFill>
                  <a:srgbClr val="D4D4D4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*</a:t>
            </a:r>
            <a:r>
              <a:rPr lang="ko" sz="1050" dirty="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ko" sz="1050" dirty="0">
                <a:solidFill>
                  <a:srgbClr val="B5CEA8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600</a:t>
            </a:r>
            <a:r>
              <a:rPr lang="ko" sz="1050" dirty="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)), </a:t>
            </a:r>
            <a:r>
              <a:rPr lang="ko" sz="1050" dirty="0">
                <a:solidFill>
                  <a:srgbClr val="B5CEA8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1800</a:t>
            </a:r>
            <a:r>
              <a:rPr lang="ko" sz="1050" dirty="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));</a:t>
            </a:r>
            <a:endParaRPr sz="1050" dirty="0">
              <a:solidFill>
                <a:srgbClr val="CCCCCC"/>
              </a:solidFill>
              <a:highlight>
                <a:srgbClr val="1F1F1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50" dirty="0">
              <a:solidFill>
                <a:srgbClr val="CCCCCC"/>
              </a:solidFill>
              <a:highlight>
                <a:srgbClr val="1F1F1F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16" name="Google Shape;216;p24"/>
          <p:cNvSpPr txBox="1"/>
          <p:nvPr/>
        </p:nvSpPr>
        <p:spPr>
          <a:xfrm>
            <a:off x="4453500" y="3183524"/>
            <a:ext cx="237000" cy="49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550">
                <a:solidFill>
                  <a:schemeClr val="dk1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endParaRPr sz="550">
              <a:solidFill>
                <a:schemeClr val="dk1"/>
              </a:solidFill>
              <a:highlight>
                <a:srgbClr val="1F1F1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550">
                <a:solidFill>
                  <a:schemeClr val="dk1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endParaRPr sz="550">
              <a:solidFill>
                <a:schemeClr val="dk1"/>
              </a:solidFill>
              <a:highlight>
                <a:srgbClr val="1F1F1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550">
                <a:solidFill>
                  <a:schemeClr val="dk1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endParaRPr sz="550">
              <a:solidFill>
                <a:schemeClr val="dk1"/>
              </a:solidFill>
              <a:highlight>
                <a:srgbClr val="1F1F1F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2" name="20251030_200520 (online-video-cutter.com)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2587806" y="726506"/>
            <a:ext cx="3968387" cy="224273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prstDash val="solid"/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6084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25"/>
          <p:cNvSpPr txBox="1">
            <a:spLocks noGrp="1"/>
          </p:cNvSpPr>
          <p:nvPr>
            <p:ph type="ctrTitle"/>
          </p:nvPr>
        </p:nvSpPr>
        <p:spPr>
          <a:xfrm>
            <a:off x="183975" y="42175"/>
            <a:ext cx="6262500" cy="57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2800"/>
              <a:t>3.  기능소개 - 랜덤향수추천</a:t>
            </a:r>
            <a:endParaRPr sz="2800"/>
          </a:p>
        </p:txBody>
      </p:sp>
      <p:sp>
        <p:nvSpPr>
          <p:cNvPr id="222" name="Google Shape;222;p25"/>
          <p:cNvSpPr txBox="1">
            <a:spLocks noGrp="1"/>
          </p:cNvSpPr>
          <p:nvPr>
            <p:ph type="subTitle" idx="1"/>
          </p:nvPr>
        </p:nvSpPr>
        <p:spPr>
          <a:xfrm>
            <a:off x="183975" y="4036925"/>
            <a:ext cx="8816100" cy="940200"/>
          </a:xfrm>
          <a:prstGeom prst="rect">
            <a:avLst/>
          </a:prstGeom>
          <a:noFill/>
          <a:ln w="9525" cap="flat" cmpd="sng">
            <a:solidFill>
              <a:srgbClr val="8080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0" rIns="91425" bIns="91425" anchor="t" anchorCtr="0">
            <a:normAutofit fontScale="92500" lnSpcReduction="10000"/>
          </a:bodyPr>
          <a:lstStyle/>
          <a:p>
            <a:pPr marL="457200" lvl="0" indent="-295275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E8E8E1"/>
              </a:buClr>
              <a:buSzPts val="1050"/>
              <a:buFont typeface="Consolas"/>
              <a:buChar char="●"/>
            </a:pPr>
            <a:r>
              <a:rPr lang="ko" sz="1050" dirty="0">
                <a:solidFill>
                  <a:srgbClr val="E8E8E1"/>
                </a:solidFill>
                <a:latin typeface="Consolas"/>
                <a:ea typeface="Consolas"/>
                <a:cs typeface="Consolas"/>
                <a:sym typeface="Consolas"/>
              </a:rPr>
              <a:t>fetch()를 통한 json로드 (brand, name, description_ko, description_en, keywords, styling_keywords, background_color, text_color, image_url, link </a:t>
            </a:r>
            <a:r>
              <a:rPr lang="ko" sz="1050" dirty="0" smtClean="0">
                <a:solidFill>
                  <a:srgbClr val="E8E8E1"/>
                </a:solidFill>
                <a:latin typeface="Consolas"/>
                <a:ea typeface="Consolas"/>
                <a:cs typeface="Consolas"/>
                <a:sym typeface="Consolas"/>
              </a:rPr>
              <a:t>내용</a:t>
            </a:r>
            <a:r>
              <a:rPr lang="en-US" altLang="ko" sz="1050" dirty="0" smtClean="0">
                <a:solidFill>
                  <a:srgbClr val="E8E8E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ko" sz="1050" dirty="0" smtClean="0">
                <a:solidFill>
                  <a:srgbClr val="E8E8E1"/>
                </a:solidFill>
                <a:latin typeface="Consolas"/>
                <a:ea typeface="Consolas"/>
                <a:cs typeface="Consolas"/>
                <a:sym typeface="Consolas"/>
              </a:rPr>
              <a:t>포함</a:t>
            </a:r>
            <a:r>
              <a:rPr lang="ko" sz="1050" dirty="0">
                <a:solidFill>
                  <a:srgbClr val="E8E8E1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1050" dirty="0">
              <a:solidFill>
                <a:srgbClr val="E8E8E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-29527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8E8E1"/>
              </a:buClr>
              <a:buSzPts val="1050"/>
              <a:buFont typeface="Consolas"/>
              <a:buChar char="●"/>
            </a:pPr>
            <a:r>
              <a:rPr lang="ko" sz="1050" dirty="0">
                <a:solidFill>
                  <a:srgbClr val="E8E8E1"/>
                </a:solidFill>
                <a:latin typeface="Consolas"/>
                <a:ea typeface="Consolas"/>
                <a:cs typeface="Consolas"/>
                <a:sym typeface="Consolas"/>
              </a:rPr>
              <a:t>random()을 사용해 매번 다른 향수 추천</a:t>
            </a:r>
            <a:endParaRPr sz="1050" dirty="0">
              <a:solidFill>
                <a:srgbClr val="E8E8E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-29527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8E8E1"/>
              </a:buClr>
              <a:buSzPts val="1050"/>
              <a:buFont typeface="Consolas"/>
              <a:buChar char="●"/>
            </a:pPr>
            <a:r>
              <a:rPr lang="ko" sz="1050" dirty="0">
                <a:solidFill>
                  <a:srgbClr val="E8E8E1"/>
                </a:solidFill>
                <a:latin typeface="Consolas"/>
                <a:ea typeface="Consolas"/>
                <a:cs typeface="Consolas"/>
                <a:sym typeface="Consolas"/>
              </a:rPr>
              <a:t>이미지 클릭 시 해당 </a:t>
            </a:r>
            <a:r>
              <a:rPr lang="ko-KR" altLang="en-US" sz="1050" dirty="0" smtClean="0">
                <a:solidFill>
                  <a:srgbClr val="E8E8E1"/>
                </a:solidFill>
                <a:latin typeface="Consolas"/>
                <a:ea typeface="Consolas"/>
                <a:cs typeface="Consolas"/>
                <a:sym typeface="Consolas"/>
              </a:rPr>
              <a:t>향</a:t>
            </a:r>
            <a:r>
              <a:rPr lang="ko" sz="1050" dirty="0" smtClean="0">
                <a:solidFill>
                  <a:srgbClr val="E8E8E1"/>
                </a:solidFill>
                <a:latin typeface="Consolas"/>
                <a:ea typeface="Consolas"/>
                <a:cs typeface="Consolas"/>
                <a:sym typeface="Consolas"/>
              </a:rPr>
              <a:t>수페이지로 </a:t>
            </a:r>
            <a:r>
              <a:rPr lang="ko" sz="1050" dirty="0">
                <a:solidFill>
                  <a:srgbClr val="E8E8E1"/>
                </a:solidFill>
                <a:latin typeface="Consolas"/>
                <a:ea typeface="Consolas"/>
                <a:cs typeface="Consolas"/>
                <a:sym typeface="Consolas"/>
              </a:rPr>
              <a:t>다이렉트 이동</a:t>
            </a:r>
            <a:endParaRPr sz="1050" dirty="0">
              <a:solidFill>
                <a:srgbClr val="E8E8E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23" name="Google Shape;223;p25"/>
          <p:cNvSpPr/>
          <p:nvPr/>
        </p:nvSpPr>
        <p:spPr>
          <a:xfrm>
            <a:off x="3550" y="583925"/>
            <a:ext cx="6442800" cy="31800"/>
          </a:xfrm>
          <a:prstGeom prst="rect">
            <a:avLst/>
          </a:prstGeom>
          <a:solidFill>
            <a:srgbClr val="E8E8E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4" name="Google Shape;224;p25"/>
          <p:cNvSpPr txBox="1"/>
          <p:nvPr/>
        </p:nvSpPr>
        <p:spPr>
          <a:xfrm>
            <a:off x="183800" y="2571753"/>
            <a:ext cx="8816100" cy="78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chemeClr val="dk1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1. </a:t>
            </a:r>
            <a:r>
              <a:rPr lang="ko" sz="105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       .</a:t>
            </a:r>
            <a:r>
              <a:rPr lang="ko" sz="1050">
                <a:solidFill>
                  <a:srgbClr val="DCDCAA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then</a:t>
            </a:r>
            <a:r>
              <a:rPr lang="ko" sz="105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ko" sz="105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perfumes</a:t>
            </a:r>
            <a:r>
              <a:rPr lang="ko" sz="105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ko" sz="1050">
                <a:solidFill>
                  <a:srgbClr val="569CD6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=&gt;</a:t>
            </a:r>
            <a:r>
              <a:rPr lang="ko" sz="105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{</a:t>
            </a:r>
            <a:endParaRPr sz="1050">
              <a:solidFill>
                <a:srgbClr val="CCCCCC"/>
              </a:solidFill>
              <a:highlight>
                <a:srgbClr val="1F1F1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              </a:t>
            </a:r>
            <a:r>
              <a:rPr lang="ko" sz="1050">
                <a:solidFill>
                  <a:srgbClr val="569CD6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let</a:t>
            </a:r>
            <a:r>
              <a:rPr lang="ko" sz="105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ko" sz="105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randomPerfume</a:t>
            </a:r>
            <a:r>
              <a:rPr lang="ko" sz="105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ko" sz="1050">
                <a:solidFill>
                  <a:srgbClr val="D4D4D4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ko" sz="105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ko" sz="105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perfumes</a:t>
            </a:r>
            <a:r>
              <a:rPr lang="ko" sz="105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lang="ko" sz="105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Math</a:t>
            </a:r>
            <a:r>
              <a:rPr lang="ko" sz="105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ko" sz="1050">
                <a:solidFill>
                  <a:srgbClr val="DCDCAA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floor</a:t>
            </a:r>
            <a:r>
              <a:rPr lang="ko" sz="105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ko" sz="105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Math</a:t>
            </a:r>
            <a:r>
              <a:rPr lang="ko" sz="105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ko" sz="1050">
                <a:solidFill>
                  <a:srgbClr val="DCDCAA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random</a:t>
            </a:r>
            <a:r>
              <a:rPr lang="ko" sz="105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() </a:t>
            </a:r>
            <a:r>
              <a:rPr lang="ko" sz="1050">
                <a:solidFill>
                  <a:srgbClr val="D4D4D4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*</a:t>
            </a:r>
            <a:r>
              <a:rPr lang="ko" sz="105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ko" sz="105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perfumes</a:t>
            </a:r>
            <a:r>
              <a:rPr lang="ko" sz="105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ko" sz="105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length</a:t>
            </a:r>
            <a:r>
              <a:rPr lang="ko" sz="105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)];</a:t>
            </a:r>
            <a:endParaRPr sz="1050">
              <a:solidFill>
                <a:srgbClr val="DCDCAA"/>
              </a:solidFill>
              <a:highlight>
                <a:srgbClr val="1F1F1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50">
              <a:solidFill>
                <a:srgbClr val="CCCCCC"/>
              </a:solidFill>
              <a:highlight>
                <a:srgbClr val="1F1F1F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25" name="Google Shape;225;p25"/>
          <p:cNvSpPr txBox="1"/>
          <p:nvPr/>
        </p:nvSpPr>
        <p:spPr>
          <a:xfrm>
            <a:off x="183975" y="3398019"/>
            <a:ext cx="8816100" cy="78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chemeClr val="dk1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2. </a:t>
            </a:r>
            <a:r>
              <a:rPr lang="ko" sz="105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ko" sz="105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img</a:t>
            </a:r>
            <a:r>
              <a:rPr lang="ko" sz="105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ko" sz="1050">
                <a:solidFill>
                  <a:srgbClr val="DCDCAA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addEventListener</a:t>
            </a:r>
            <a:r>
              <a:rPr lang="ko" sz="105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ko" sz="1050">
                <a:solidFill>
                  <a:srgbClr val="CE9178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'click'</a:t>
            </a:r>
            <a:r>
              <a:rPr lang="ko" sz="105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, (</a:t>
            </a:r>
            <a:r>
              <a:rPr lang="ko" sz="105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e</a:t>
            </a:r>
            <a:r>
              <a:rPr lang="ko" sz="105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) </a:t>
            </a:r>
            <a:r>
              <a:rPr lang="ko" sz="1050">
                <a:solidFill>
                  <a:srgbClr val="569CD6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=&gt;</a:t>
            </a:r>
            <a:r>
              <a:rPr lang="ko" sz="105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{</a:t>
            </a:r>
            <a:endParaRPr sz="1050">
              <a:solidFill>
                <a:srgbClr val="CCCCCC"/>
              </a:solidFill>
              <a:highlight>
                <a:srgbClr val="1F1F1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                   </a:t>
            </a:r>
            <a:r>
              <a:rPr lang="ko" sz="105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window</a:t>
            </a:r>
            <a:r>
              <a:rPr lang="ko" sz="105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ko" sz="105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location</a:t>
            </a:r>
            <a:r>
              <a:rPr lang="ko" sz="105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ko" sz="105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href</a:t>
            </a:r>
            <a:r>
              <a:rPr lang="ko" sz="105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ko" sz="1050">
                <a:solidFill>
                  <a:srgbClr val="D4D4D4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ko" sz="105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ko" sz="105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randomPerfume</a:t>
            </a:r>
            <a:r>
              <a:rPr lang="ko" sz="105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ko" sz="105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link</a:t>
            </a:r>
            <a:r>
              <a:rPr lang="ko" sz="105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});</a:t>
            </a:r>
            <a:endParaRPr sz="1050">
              <a:solidFill>
                <a:srgbClr val="9CDCFE"/>
              </a:solidFill>
              <a:highlight>
                <a:srgbClr val="1F1F1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50">
              <a:solidFill>
                <a:srgbClr val="CCCCCC"/>
              </a:solidFill>
              <a:highlight>
                <a:srgbClr val="1F1F1F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26" name="Google Shape;226;p25"/>
          <p:cNvSpPr txBox="1"/>
          <p:nvPr/>
        </p:nvSpPr>
        <p:spPr>
          <a:xfrm>
            <a:off x="4453500" y="2988793"/>
            <a:ext cx="237000" cy="49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550">
                <a:solidFill>
                  <a:schemeClr val="dk1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endParaRPr sz="550">
              <a:solidFill>
                <a:schemeClr val="dk1"/>
              </a:solidFill>
              <a:highlight>
                <a:srgbClr val="1F1F1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550">
                <a:solidFill>
                  <a:schemeClr val="dk1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endParaRPr sz="550">
              <a:solidFill>
                <a:schemeClr val="dk1"/>
              </a:solidFill>
              <a:highlight>
                <a:srgbClr val="1F1F1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550">
                <a:solidFill>
                  <a:schemeClr val="dk1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endParaRPr sz="550">
              <a:solidFill>
                <a:schemeClr val="dk1"/>
              </a:solidFill>
              <a:highlight>
                <a:srgbClr val="1F1F1F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2" name="20251030_202614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3510169" y="723394"/>
            <a:ext cx="2123662" cy="191129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prstDash val="solid"/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5598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26"/>
          <p:cNvSpPr txBox="1">
            <a:spLocks noGrp="1"/>
          </p:cNvSpPr>
          <p:nvPr>
            <p:ph type="ctrTitle"/>
          </p:nvPr>
        </p:nvSpPr>
        <p:spPr>
          <a:xfrm>
            <a:off x="183975" y="42175"/>
            <a:ext cx="6262500" cy="57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2800"/>
              <a:t>3.  기능소개 - 메일전송 (서버이용)</a:t>
            </a:r>
            <a:endParaRPr sz="2800"/>
          </a:p>
        </p:txBody>
      </p:sp>
      <p:sp>
        <p:nvSpPr>
          <p:cNvPr id="232" name="Google Shape;232;p26"/>
          <p:cNvSpPr txBox="1">
            <a:spLocks noGrp="1"/>
          </p:cNvSpPr>
          <p:nvPr>
            <p:ph type="subTitle" idx="1"/>
          </p:nvPr>
        </p:nvSpPr>
        <p:spPr>
          <a:xfrm>
            <a:off x="3936491" y="3159185"/>
            <a:ext cx="5063509" cy="755700"/>
          </a:xfrm>
          <a:prstGeom prst="rect">
            <a:avLst/>
          </a:prstGeom>
          <a:noFill/>
          <a:ln w="9525" cap="flat" cmpd="sng">
            <a:solidFill>
              <a:srgbClr val="8080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0" rIns="91425" bIns="91425" anchor="t" anchorCtr="0">
            <a:normAutofit fontScale="92500" lnSpcReduction="10000"/>
          </a:bodyPr>
          <a:lstStyle/>
          <a:p>
            <a:pPr marL="457200" lvl="0" indent="-295275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E8E8E1"/>
              </a:buClr>
              <a:buSzPts val="1050"/>
              <a:buFont typeface="Consolas"/>
              <a:buChar char="●"/>
            </a:pPr>
            <a:r>
              <a:rPr lang="ko" sz="1050" dirty="0">
                <a:solidFill>
                  <a:srgbClr val="E8E8E1"/>
                </a:solidFill>
                <a:latin typeface="Consolas"/>
                <a:ea typeface="Consolas"/>
                <a:cs typeface="Consolas"/>
                <a:sym typeface="Consolas"/>
              </a:rPr>
              <a:t>EmailJS 사이트를 통한 서버중계로 구현</a:t>
            </a:r>
            <a:endParaRPr sz="1050" dirty="0">
              <a:solidFill>
                <a:srgbClr val="E8E8E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-29527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8E8E1"/>
              </a:buClr>
              <a:buSzPts val="1050"/>
              <a:buFont typeface="Consolas"/>
              <a:buChar char="●"/>
            </a:pPr>
            <a:r>
              <a:rPr lang="ko" sz="1050" dirty="0">
                <a:solidFill>
                  <a:srgbClr val="E8E8E1"/>
                </a:solidFill>
                <a:latin typeface="Consolas"/>
                <a:ea typeface="Consolas"/>
                <a:cs typeface="Consolas"/>
                <a:sym typeface="Consolas"/>
              </a:rPr>
              <a:t>init()으로 라이브러리 초기화와 key인증</a:t>
            </a:r>
            <a:endParaRPr sz="1050" dirty="0">
              <a:solidFill>
                <a:srgbClr val="E8E8E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-29527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8E8E1"/>
              </a:buClr>
              <a:buSzPts val="1050"/>
              <a:buFont typeface="Consolas"/>
              <a:buChar char="●"/>
            </a:pPr>
            <a:r>
              <a:rPr lang="ko" sz="1050" dirty="0">
                <a:solidFill>
                  <a:srgbClr val="E8E8E1"/>
                </a:solidFill>
                <a:latin typeface="Consolas"/>
                <a:ea typeface="Consolas"/>
                <a:cs typeface="Consolas"/>
                <a:sym typeface="Consolas"/>
              </a:rPr>
              <a:t>sendForm()으로 사전에 지정해둔 템플릿으로 Form </a:t>
            </a:r>
            <a:r>
              <a:rPr lang="ko" sz="1050" dirty="0" smtClean="0">
                <a:solidFill>
                  <a:srgbClr val="E8E8E1"/>
                </a:solidFill>
                <a:latin typeface="Consolas"/>
                <a:ea typeface="Consolas"/>
                <a:cs typeface="Consolas"/>
                <a:sym typeface="Consolas"/>
              </a:rPr>
              <a:t>제출</a:t>
            </a:r>
            <a:endParaRPr sz="1050" dirty="0">
              <a:solidFill>
                <a:srgbClr val="E8E8E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33" name="Google Shape;233;p26"/>
          <p:cNvSpPr/>
          <p:nvPr/>
        </p:nvSpPr>
        <p:spPr>
          <a:xfrm>
            <a:off x="3550" y="583925"/>
            <a:ext cx="6442800" cy="31800"/>
          </a:xfrm>
          <a:prstGeom prst="rect">
            <a:avLst/>
          </a:prstGeom>
          <a:solidFill>
            <a:srgbClr val="E8E8E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4" name="Google Shape;234;p26"/>
          <p:cNvSpPr txBox="1"/>
          <p:nvPr/>
        </p:nvSpPr>
        <p:spPr>
          <a:xfrm>
            <a:off x="4080081" y="1074800"/>
            <a:ext cx="4887969" cy="12833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 dirty="0">
                <a:solidFill>
                  <a:schemeClr val="dk1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1. </a:t>
            </a:r>
            <a:r>
              <a:rPr lang="ko" sz="1050" dirty="0">
                <a:solidFill>
                  <a:srgbClr val="D4D4D4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    </a:t>
            </a:r>
            <a:r>
              <a:rPr lang="ko" sz="1050" dirty="0">
                <a:solidFill>
                  <a:srgbClr val="569CD6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const</a:t>
            </a:r>
            <a:r>
              <a:rPr lang="ko" sz="1050" dirty="0">
                <a:solidFill>
                  <a:srgbClr val="D4D4D4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ko" sz="1050" dirty="0">
                <a:solidFill>
                  <a:srgbClr val="4FC1FF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PUBLIC_KEY</a:t>
            </a:r>
            <a:r>
              <a:rPr lang="ko" sz="1050" dirty="0">
                <a:solidFill>
                  <a:srgbClr val="D4D4D4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lang="ko" sz="1050" dirty="0">
                <a:solidFill>
                  <a:srgbClr val="CE9178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"xxxxxxxxxxx"</a:t>
            </a:r>
            <a:r>
              <a:rPr lang="ko" sz="1050" dirty="0">
                <a:solidFill>
                  <a:srgbClr val="D4D4D4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50" dirty="0">
              <a:solidFill>
                <a:srgbClr val="D4D4D4"/>
              </a:solidFill>
              <a:highlight>
                <a:srgbClr val="1F1F1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 dirty="0">
                <a:solidFill>
                  <a:srgbClr val="D4D4D4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ko" sz="1050" dirty="0">
                <a:solidFill>
                  <a:srgbClr val="569CD6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const</a:t>
            </a:r>
            <a:r>
              <a:rPr lang="ko" sz="1050" dirty="0">
                <a:solidFill>
                  <a:srgbClr val="D4D4D4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ko" sz="1050" dirty="0">
                <a:solidFill>
                  <a:srgbClr val="4FC1FF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SERVICE_KEY</a:t>
            </a:r>
            <a:r>
              <a:rPr lang="ko" sz="1050" dirty="0">
                <a:solidFill>
                  <a:srgbClr val="D4D4D4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lang="ko" sz="1050" dirty="0">
                <a:solidFill>
                  <a:srgbClr val="CE9178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"xxxxxxxxxxx"</a:t>
            </a:r>
            <a:r>
              <a:rPr lang="ko" sz="1050" dirty="0">
                <a:solidFill>
                  <a:srgbClr val="D4D4D4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50" dirty="0">
              <a:solidFill>
                <a:srgbClr val="D4D4D4"/>
              </a:solidFill>
              <a:highlight>
                <a:srgbClr val="1F1F1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 dirty="0">
                <a:solidFill>
                  <a:srgbClr val="D4D4D4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ko" sz="1050" dirty="0">
                <a:solidFill>
                  <a:srgbClr val="569CD6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const</a:t>
            </a:r>
            <a:r>
              <a:rPr lang="ko" sz="1050" dirty="0">
                <a:solidFill>
                  <a:srgbClr val="D4D4D4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ko" sz="1050" dirty="0">
                <a:solidFill>
                  <a:srgbClr val="4FC1FF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TEMPLATE_KEY</a:t>
            </a:r>
            <a:r>
              <a:rPr lang="ko" sz="1050" dirty="0">
                <a:solidFill>
                  <a:srgbClr val="D4D4D4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lang="ko" sz="1050" dirty="0">
                <a:solidFill>
                  <a:srgbClr val="CE9178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"xxxxxxxxxxx"</a:t>
            </a:r>
            <a:r>
              <a:rPr lang="ko" sz="1050" dirty="0">
                <a:solidFill>
                  <a:srgbClr val="D4D4D4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50" dirty="0">
              <a:solidFill>
                <a:srgbClr val="D4D4D4"/>
              </a:solidFill>
              <a:highlight>
                <a:srgbClr val="1F1F1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50" dirty="0">
              <a:solidFill>
                <a:srgbClr val="CCCCCC"/>
              </a:solidFill>
              <a:highlight>
                <a:srgbClr val="1F1F1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 dirty="0">
                <a:solidFill>
                  <a:srgbClr val="D4D4D4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ko" sz="1050" dirty="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emailjs</a:t>
            </a:r>
            <a:r>
              <a:rPr lang="ko" sz="1050" dirty="0">
                <a:solidFill>
                  <a:srgbClr val="D4D4D4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ko" sz="1050" dirty="0">
                <a:solidFill>
                  <a:srgbClr val="DCDCAA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init</a:t>
            </a:r>
            <a:r>
              <a:rPr lang="ko" sz="1050" dirty="0">
                <a:solidFill>
                  <a:srgbClr val="D4D4D4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ko" sz="1050" dirty="0">
                <a:solidFill>
                  <a:srgbClr val="4FC1FF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PUBLIC_KEY</a:t>
            </a:r>
            <a:r>
              <a:rPr lang="ko" sz="1050" dirty="0">
                <a:solidFill>
                  <a:srgbClr val="D4D4D4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1050" dirty="0">
              <a:solidFill>
                <a:srgbClr val="DCDCAA"/>
              </a:solidFill>
              <a:highlight>
                <a:srgbClr val="1F1F1F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35" name="Google Shape;235;p26"/>
          <p:cNvSpPr txBox="1"/>
          <p:nvPr/>
        </p:nvSpPr>
        <p:spPr>
          <a:xfrm>
            <a:off x="4080164" y="2598656"/>
            <a:ext cx="4887969" cy="6241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chemeClr val="dk1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2. </a:t>
            </a:r>
            <a:r>
              <a:rPr lang="ko" sz="105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emailjs</a:t>
            </a:r>
            <a:r>
              <a:rPr lang="ko" sz="1050">
                <a:solidFill>
                  <a:srgbClr val="D4D4D4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ko" sz="1050">
                <a:solidFill>
                  <a:srgbClr val="DCDCAA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sendForm</a:t>
            </a:r>
            <a:r>
              <a:rPr lang="ko" sz="1050">
                <a:solidFill>
                  <a:srgbClr val="D4D4D4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ko" sz="1050">
                <a:solidFill>
                  <a:srgbClr val="4FC1FF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SERVICE_KEY</a:t>
            </a:r>
            <a:r>
              <a:rPr lang="ko" sz="1050">
                <a:solidFill>
                  <a:srgbClr val="D4D4D4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ko" sz="1050">
                <a:solidFill>
                  <a:srgbClr val="4FC1FF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TEMPLATE_KEY</a:t>
            </a:r>
            <a:r>
              <a:rPr lang="ko" sz="1050">
                <a:solidFill>
                  <a:srgbClr val="D4D4D4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ko" sz="1050">
                <a:solidFill>
                  <a:srgbClr val="569CD6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this</a:t>
            </a:r>
            <a:r>
              <a:rPr lang="ko" sz="1050">
                <a:solidFill>
                  <a:srgbClr val="D4D4D4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1050">
              <a:solidFill>
                <a:srgbClr val="9CDCFE"/>
              </a:solidFill>
              <a:highlight>
                <a:srgbClr val="1F1F1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50">
              <a:solidFill>
                <a:srgbClr val="CCCCCC"/>
              </a:solidFill>
              <a:highlight>
                <a:srgbClr val="1F1F1F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36" name="Google Shape;236;p26"/>
          <p:cNvSpPr txBox="1"/>
          <p:nvPr/>
        </p:nvSpPr>
        <p:spPr>
          <a:xfrm>
            <a:off x="5812350" y="2189424"/>
            <a:ext cx="237000" cy="49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550" dirty="0">
                <a:solidFill>
                  <a:schemeClr val="dk1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endParaRPr sz="550" dirty="0">
              <a:solidFill>
                <a:schemeClr val="dk1"/>
              </a:solidFill>
              <a:highlight>
                <a:srgbClr val="1F1F1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550" dirty="0">
                <a:solidFill>
                  <a:schemeClr val="dk1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endParaRPr sz="550" dirty="0">
              <a:solidFill>
                <a:schemeClr val="dk1"/>
              </a:solidFill>
              <a:highlight>
                <a:srgbClr val="1F1F1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550" dirty="0">
                <a:solidFill>
                  <a:schemeClr val="dk1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endParaRPr sz="550" dirty="0">
              <a:solidFill>
                <a:schemeClr val="dk1"/>
              </a:solidFill>
              <a:highlight>
                <a:srgbClr val="1F1F1F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2" name="20251030_203609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1211926" y="722115"/>
            <a:ext cx="1949625" cy="2887013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prstDash val="solid"/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3" name="20251030_203742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642376" y="3748546"/>
            <a:ext cx="3088723" cy="1180257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prstDash val="solid"/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93540224"/>
              </p:ext>
            </p:extLst>
          </p:nvPr>
        </p:nvGraphicFramePr>
        <p:xfrm>
          <a:off x="3936490" y="4044809"/>
          <a:ext cx="5063510" cy="426720"/>
        </p:xfrm>
        <a:graphic>
          <a:graphicData uri="http://schemas.openxmlformats.org/drawingml/2006/table">
            <a:tbl>
              <a:tblPr/>
              <a:tblGrid>
                <a:gridCol w="1554948">
                  <a:extLst>
                    <a:ext uri="{9D8B030D-6E8A-4147-A177-3AD203B41FA5}">
                      <a16:colId xmlns:a16="http://schemas.microsoft.com/office/drawing/2014/main" val="477269793"/>
                    </a:ext>
                  </a:extLst>
                </a:gridCol>
                <a:gridCol w="1742015">
                  <a:extLst>
                    <a:ext uri="{9D8B030D-6E8A-4147-A177-3AD203B41FA5}">
                      <a16:colId xmlns:a16="http://schemas.microsoft.com/office/drawing/2014/main" val="1715311515"/>
                    </a:ext>
                  </a:extLst>
                </a:gridCol>
                <a:gridCol w="1766547">
                  <a:extLst>
                    <a:ext uri="{9D8B030D-6E8A-4147-A177-3AD203B41FA5}">
                      <a16:colId xmlns:a16="http://schemas.microsoft.com/office/drawing/2014/main" val="256217397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sz="800" b="1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PUBLIC_KEY</a:t>
                      </a:r>
                      <a:endParaRPr lang="en-US" sz="800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="1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SERVICE_KEY</a:t>
                      </a:r>
                      <a:endParaRPr lang="en-US" sz="800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="1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TEMPLATE_KEY</a:t>
                      </a:r>
                      <a:endParaRPr lang="en-US" sz="80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5914687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80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내 </a:t>
                      </a:r>
                      <a:r>
                        <a:rPr lang="en-US" sz="800" dirty="0" err="1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EmailJS</a:t>
                      </a:r>
                      <a:r>
                        <a:rPr lang="en-US" sz="80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 </a:t>
                      </a:r>
                      <a:r>
                        <a:rPr lang="ko-KR" altLang="en-US" sz="80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계정 인증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사용할 메일 서비스 지정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메일 본문 형식</a:t>
                      </a:r>
                      <a:r>
                        <a:rPr lang="en-US" altLang="ko-KR" sz="80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(</a:t>
                      </a:r>
                      <a:r>
                        <a:rPr lang="ko-KR" altLang="en-US" sz="80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템플릿</a:t>
                      </a:r>
                      <a:r>
                        <a:rPr lang="en-US" altLang="ko-KR" sz="80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) </a:t>
                      </a:r>
                      <a:r>
                        <a:rPr lang="ko-KR" altLang="en-US" sz="80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지정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84410521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9132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9132"/>
                            </p:stCondLst>
                            <p:childTnLst>
                              <p:par>
                                <p:cTn id="8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9" dur="3529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10" repeatCount="indefinite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11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" fill="hold">
                      <p:stCondLst>
                        <p:cond delay="0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5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  <p:video>
              <p:cMediaNode vol="80000">
                <p:cTn id="16" repeatCount="indefinite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17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" fill="hold">
                      <p:stCondLst>
                        <p:cond delay="0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21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27"/>
          <p:cNvSpPr txBox="1">
            <a:spLocks noGrp="1"/>
          </p:cNvSpPr>
          <p:nvPr>
            <p:ph type="ctrTitle"/>
          </p:nvPr>
        </p:nvSpPr>
        <p:spPr>
          <a:xfrm>
            <a:off x="183975" y="42175"/>
            <a:ext cx="6262500" cy="57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2800"/>
              <a:t>3.  기능소개 - 실시간길찾기</a:t>
            </a:r>
            <a:endParaRPr sz="2800"/>
          </a:p>
        </p:txBody>
      </p:sp>
      <p:sp>
        <p:nvSpPr>
          <p:cNvPr id="242" name="Google Shape;242;p27"/>
          <p:cNvSpPr txBox="1">
            <a:spLocks noGrp="1"/>
          </p:cNvSpPr>
          <p:nvPr>
            <p:ph type="subTitle" idx="1"/>
          </p:nvPr>
        </p:nvSpPr>
        <p:spPr>
          <a:xfrm>
            <a:off x="183975" y="4210875"/>
            <a:ext cx="8816100" cy="755700"/>
          </a:xfrm>
          <a:prstGeom prst="rect">
            <a:avLst/>
          </a:prstGeom>
          <a:noFill/>
          <a:ln w="9525" cap="flat" cmpd="sng">
            <a:solidFill>
              <a:srgbClr val="8080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0" rIns="91425" bIns="91425" anchor="t" anchorCtr="0">
            <a:normAutofit fontScale="92500" lnSpcReduction="10000"/>
          </a:bodyPr>
          <a:lstStyle/>
          <a:p>
            <a:pPr marL="457200" lvl="0" indent="-295275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E8E8E1"/>
              </a:buClr>
              <a:buSzPts val="1050"/>
              <a:buFont typeface="Consolas"/>
              <a:buChar char="●"/>
            </a:pPr>
            <a:r>
              <a:rPr lang="ko" sz="1050" dirty="0">
                <a:solidFill>
                  <a:srgbClr val="E8E8E1"/>
                </a:solidFill>
                <a:latin typeface="Consolas"/>
                <a:ea typeface="Consolas"/>
                <a:cs typeface="Consolas"/>
                <a:sym typeface="Consolas"/>
              </a:rPr>
              <a:t>카카오디벨로퍼 + 카카오 모빌리티 디벨로퍼 융합</a:t>
            </a:r>
            <a:endParaRPr sz="1050" dirty="0">
              <a:solidFill>
                <a:srgbClr val="E8E8E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-29527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8E8E1"/>
              </a:buClr>
              <a:buSzPts val="1050"/>
              <a:buFont typeface="Consolas"/>
              <a:buChar char="●"/>
            </a:pPr>
            <a:r>
              <a:rPr lang="ko" sz="1050" dirty="0">
                <a:solidFill>
                  <a:srgbClr val="E8E8E1"/>
                </a:solidFill>
                <a:latin typeface="Consolas"/>
                <a:ea typeface="Consolas"/>
                <a:cs typeface="Consolas"/>
                <a:sym typeface="Consolas"/>
              </a:rPr>
              <a:t>key보안을 위해 js에서 직접 길찾기API를 호출하지 않고 중계 서버를 거쳐 요청하여 결과만 받아오는 방식</a:t>
            </a:r>
            <a:endParaRPr sz="1050" dirty="0">
              <a:solidFill>
                <a:srgbClr val="E8E8E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-29527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8E8E1"/>
              </a:buClr>
              <a:buSzPts val="1050"/>
              <a:buFont typeface="Consolas"/>
              <a:buChar char="●"/>
            </a:pPr>
            <a:r>
              <a:rPr lang="ko" sz="1050" dirty="0">
                <a:solidFill>
                  <a:srgbClr val="E8E8E1"/>
                </a:solidFill>
                <a:latin typeface="Consolas"/>
                <a:ea typeface="Consolas"/>
                <a:cs typeface="Consolas"/>
                <a:sym typeface="Consolas"/>
              </a:rPr>
              <a:t>카카오디벨로퍼의 kakao.maps에 fetch로 불러온 data 중 경로에 대한 정보를 새로운 요소를 통해 보이게 하는 방식으로 구현</a:t>
            </a:r>
            <a:endParaRPr sz="1050" dirty="0">
              <a:solidFill>
                <a:srgbClr val="E8E8E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43" name="Google Shape;243;p27"/>
          <p:cNvSpPr/>
          <p:nvPr/>
        </p:nvSpPr>
        <p:spPr>
          <a:xfrm>
            <a:off x="3550" y="583925"/>
            <a:ext cx="6442800" cy="31800"/>
          </a:xfrm>
          <a:prstGeom prst="rect">
            <a:avLst/>
          </a:prstGeom>
          <a:solidFill>
            <a:srgbClr val="E8E8E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4" name="Google Shape;244;p27"/>
          <p:cNvSpPr txBox="1"/>
          <p:nvPr/>
        </p:nvSpPr>
        <p:spPr>
          <a:xfrm>
            <a:off x="183800" y="2367921"/>
            <a:ext cx="8816100" cy="56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chemeClr val="dk1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1. </a:t>
            </a:r>
            <a:r>
              <a:rPr lang="ko" sz="1050">
                <a:solidFill>
                  <a:srgbClr val="DCDCAA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fetch</a:t>
            </a:r>
            <a:r>
              <a:rPr lang="ko" sz="105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ko" sz="1050">
                <a:solidFill>
                  <a:srgbClr val="CE9178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`</a:t>
            </a:r>
            <a:r>
              <a:rPr lang="ko" sz="1050">
                <a:solidFill>
                  <a:srgbClr val="569CD6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${</a:t>
            </a:r>
            <a:r>
              <a:rPr lang="ko" sz="1050">
                <a:solidFill>
                  <a:srgbClr val="4FC1FF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WORKER_URL</a:t>
            </a:r>
            <a:r>
              <a:rPr lang="ko" sz="1050">
                <a:solidFill>
                  <a:srgbClr val="569CD6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r>
              <a:rPr lang="ko" sz="1050">
                <a:solidFill>
                  <a:srgbClr val="CE9178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?origin=</a:t>
            </a:r>
            <a:r>
              <a:rPr lang="ko" sz="1050">
                <a:solidFill>
                  <a:srgbClr val="569CD6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${</a:t>
            </a:r>
            <a:r>
              <a:rPr lang="ko" sz="1050">
                <a:solidFill>
                  <a:srgbClr val="4FC1FF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origin</a:t>
            </a:r>
            <a:r>
              <a:rPr lang="ko" sz="1050">
                <a:solidFill>
                  <a:srgbClr val="569CD6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r>
              <a:rPr lang="ko" sz="1050">
                <a:solidFill>
                  <a:srgbClr val="CE9178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&amp;destination=</a:t>
            </a:r>
            <a:r>
              <a:rPr lang="ko" sz="1050">
                <a:solidFill>
                  <a:srgbClr val="569CD6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${</a:t>
            </a:r>
            <a:r>
              <a:rPr lang="ko" sz="1050">
                <a:solidFill>
                  <a:srgbClr val="4FC1FF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destination</a:t>
            </a:r>
            <a:r>
              <a:rPr lang="ko" sz="1050">
                <a:solidFill>
                  <a:srgbClr val="569CD6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r>
              <a:rPr lang="ko" sz="1050">
                <a:solidFill>
                  <a:srgbClr val="CE9178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`</a:t>
            </a:r>
            <a:r>
              <a:rPr lang="ko" sz="105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1050">
              <a:solidFill>
                <a:srgbClr val="DCDCAA"/>
              </a:solidFill>
              <a:highlight>
                <a:srgbClr val="1F1F1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50">
              <a:solidFill>
                <a:srgbClr val="CCCCCC"/>
              </a:solidFill>
              <a:highlight>
                <a:srgbClr val="1F1F1F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45" name="Google Shape;245;p27"/>
          <p:cNvSpPr txBox="1"/>
          <p:nvPr/>
        </p:nvSpPr>
        <p:spPr>
          <a:xfrm>
            <a:off x="183975" y="2986641"/>
            <a:ext cx="5364770" cy="12833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chemeClr val="dk1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2. </a:t>
            </a:r>
            <a:r>
              <a:rPr lang="ko" sz="105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routePolyline = new kakao.maps.Polyline({</a:t>
            </a:r>
            <a:endParaRPr sz="1050">
              <a:solidFill>
                <a:srgbClr val="9CDCFE"/>
              </a:solidFill>
              <a:highlight>
                <a:srgbClr val="1F1F1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   path: coords,</a:t>
            </a:r>
            <a:endParaRPr sz="1050">
              <a:solidFill>
                <a:srgbClr val="9CDCFE"/>
              </a:solidFill>
              <a:highlight>
                <a:srgbClr val="1F1F1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   strokeWeight: 5,</a:t>
            </a:r>
            <a:endParaRPr sz="1050">
              <a:solidFill>
                <a:srgbClr val="9CDCFE"/>
              </a:solidFill>
              <a:highlight>
                <a:srgbClr val="1F1F1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   strokeColor: '#8000FF',</a:t>
            </a:r>
            <a:endParaRPr sz="1050">
              <a:solidFill>
                <a:srgbClr val="9CDCFE"/>
              </a:solidFill>
              <a:highlight>
                <a:srgbClr val="1F1F1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   strokeOpacity: 0.8});</a:t>
            </a:r>
            <a:endParaRPr sz="1050">
              <a:solidFill>
                <a:srgbClr val="CCCCCC"/>
              </a:solidFill>
              <a:highlight>
                <a:srgbClr val="1F1F1F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46" name="Google Shape;246;p27"/>
          <p:cNvSpPr txBox="1"/>
          <p:nvPr/>
        </p:nvSpPr>
        <p:spPr>
          <a:xfrm>
            <a:off x="2063356" y="2612293"/>
            <a:ext cx="237000" cy="49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550">
                <a:solidFill>
                  <a:schemeClr val="dk1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endParaRPr sz="550">
              <a:solidFill>
                <a:schemeClr val="dk1"/>
              </a:solidFill>
              <a:highlight>
                <a:srgbClr val="1F1F1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550">
                <a:solidFill>
                  <a:schemeClr val="dk1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endParaRPr sz="550">
              <a:solidFill>
                <a:schemeClr val="dk1"/>
              </a:solidFill>
              <a:highlight>
                <a:srgbClr val="1F1F1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550">
                <a:solidFill>
                  <a:schemeClr val="dk1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endParaRPr sz="550">
              <a:solidFill>
                <a:schemeClr val="dk1"/>
              </a:solidFill>
              <a:highlight>
                <a:srgbClr val="1F1F1F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2" name="20251030_203931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2181856" y="729286"/>
            <a:ext cx="4543287" cy="1684014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prstDash val="solid"/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5548745" y="2510596"/>
            <a:ext cx="3451155" cy="707886"/>
          </a:xfrm>
          <a:prstGeom prst="rect">
            <a:avLst/>
          </a:prstGeom>
          <a:noFill/>
          <a:ln w="9525">
            <a:solidFill>
              <a:schemeClr val="bg1">
                <a:lumMod val="90000"/>
                <a:lumOff val="10000"/>
              </a:schemeClr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ko-KR" altLang="ko-KR" sz="800" b="1" i="0" u="none" strike="noStrike" cap="none" normalizeH="0" baseline="0" dirty="0" err="1" smtClean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origin</a:t>
            </a:r>
            <a:r>
              <a:rPr kumimoji="0" lang="ko-KR" altLang="ko-KR" sz="800" b="0" i="0" u="none" strike="noStrike" cap="none" normalizeH="0" baseline="0" dirty="0" smtClean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 → 출발지</a:t>
            </a:r>
            <a:r>
              <a:rPr kumimoji="0" lang="en-US" altLang="ko-KR" sz="800" b="0" i="0" u="none" strike="noStrike" cap="none" normalizeH="0" baseline="0" dirty="0" smtClean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 (</a:t>
            </a:r>
            <a:r>
              <a:rPr kumimoji="0" lang="ko-KR" altLang="en-US" sz="800" b="0" i="0" u="none" strike="noStrike" cap="none" normalizeH="0" baseline="0" dirty="0" err="1" smtClean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카카오맵</a:t>
            </a:r>
            <a:r>
              <a:rPr kumimoji="0" lang="en-US" altLang="ko-KR" sz="800" b="0" i="0" u="none" strike="noStrike" cap="none" normalizeH="0" baseline="0" dirty="0" smtClean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en-US" sz="800" b="0" i="0" u="none" strike="noStrike" cap="none" normalizeH="0" baseline="0" dirty="0" err="1" smtClean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장소검색</a:t>
            </a:r>
            <a:r>
              <a:rPr kumimoji="0" lang="ko-KR" altLang="en-US" sz="800" b="0" i="0" u="none" strike="noStrike" cap="none" normalizeH="0" baseline="0" dirty="0" smtClean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 결과 배열</a:t>
            </a:r>
            <a:r>
              <a:rPr kumimoji="0" lang="en-US" altLang="ko-KR" sz="800" b="0" i="0" u="none" strike="noStrike" cap="none" normalizeH="0" baseline="0" dirty="0" smtClean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)</a:t>
            </a:r>
            <a:endParaRPr kumimoji="0" lang="ko-KR" altLang="ko-KR" sz="800" b="0" i="0" u="none" strike="noStrike" cap="none" normalizeH="0" baseline="0" dirty="0" smtClean="0">
              <a:ln>
                <a:noFill/>
              </a:ln>
              <a:solidFill>
                <a:schemeClr val="tx1">
                  <a:lumMod val="50000"/>
                </a:schemeClr>
              </a:solidFill>
              <a:effectLst/>
              <a:latin typeface="Consolas" panose="020B06090202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ko-KR" altLang="ko-KR" sz="800" b="1" i="0" u="none" strike="noStrike" cap="none" normalizeH="0" baseline="0" dirty="0" err="1" smtClean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destination</a:t>
            </a:r>
            <a:r>
              <a:rPr kumimoji="0" lang="ko-KR" altLang="ko-KR" sz="800" b="0" i="0" u="none" strike="noStrike" cap="none" normalizeH="0" baseline="0" dirty="0" smtClean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 → 도착지</a:t>
            </a:r>
            <a:r>
              <a:rPr kumimoji="0" lang="en-US" altLang="ko-KR" sz="800" b="0" i="0" u="none" strike="noStrike" cap="none" normalizeH="0" baseline="0" dirty="0" smtClean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 (</a:t>
            </a:r>
            <a:r>
              <a:rPr kumimoji="0" lang="ko-KR" altLang="en-US" sz="800" b="0" i="0" u="none" strike="noStrike" cap="none" normalizeH="0" baseline="0" dirty="0" smtClean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카카오맵에서 사용자 지정된 좌표</a:t>
            </a:r>
            <a:r>
              <a:rPr kumimoji="0" lang="en-US" altLang="ko-KR" sz="800" b="0" i="0" u="none" strike="noStrike" cap="none" normalizeH="0" baseline="0" dirty="0" smtClean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)</a:t>
            </a:r>
            <a:r>
              <a:rPr kumimoji="0" lang="ko-KR" altLang="ko-KR" sz="800" b="0" i="0" u="none" strike="noStrike" cap="none" normalizeH="0" baseline="0" dirty="0" smtClean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/>
            </a:r>
            <a:br>
              <a:rPr kumimoji="0" lang="ko-KR" altLang="ko-KR" sz="800" b="0" i="0" u="none" strike="noStrike" cap="none" normalizeH="0" baseline="0" dirty="0" smtClean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</a:br>
            <a:endParaRPr lang="en-US" altLang="ko-KR" sz="800" dirty="0">
              <a:solidFill>
                <a:schemeClr val="tx1">
                  <a:lumMod val="50000"/>
                </a:schemeClr>
              </a:solidFill>
              <a:latin typeface="Consolas" panose="020B06090202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ko-KR" altLang="ko-KR" sz="800" b="0" i="0" u="none" strike="noStrike" cap="none" normalizeH="0" baseline="0" dirty="0" smtClean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각각 </a:t>
            </a:r>
            <a:r>
              <a:rPr kumimoji="0" lang="ko-KR" altLang="ko-KR" sz="800" b="1" i="0" u="none" strike="noStrike" cap="none" normalizeH="0" baseline="0" dirty="0" smtClean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"</a:t>
            </a:r>
            <a:r>
              <a:rPr kumimoji="0" lang="ko-KR" altLang="ko-KR" sz="800" b="1" i="0" u="none" strike="noStrike" cap="none" normalizeH="0" baseline="0" dirty="0" err="1" smtClean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경도,위도</a:t>
            </a:r>
            <a:r>
              <a:rPr kumimoji="0" lang="ko-KR" altLang="ko-KR" sz="800" b="1" i="0" u="none" strike="noStrike" cap="none" normalizeH="0" baseline="0" dirty="0" smtClean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"</a:t>
            </a:r>
            <a:r>
              <a:rPr kumimoji="0" lang="ko-KR" altLang="ko-KR" sz="800" b="0" i="0" u="none" strike="noStrike" cap="none" normalizeH="0" baseline="0" dirty="0" smtClean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 형태의 문자열로 만든 다음,</a:t>
            </a:r>
            <a:br>
              <a:rPr kumimoji="0" lang="ko-KR" altLang="ko-KR" sz="800" b="0" i="0" u="none" strike="noStrike" cap="none" normalizeH="0" baseline="0" dirty="0" smtClean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</a:br>
            <a:r>
              <a:rPr kumimoji="0" lang="ko-KR" altLang="ko-KR" sz="800" b="0" i="0" u="none" strike="noStrike" cap="none" normalizeH="0" baseline="0" dirty="0" smtClean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API 요청 </a:t>
            </a:r>
            <a:r>
              <a:rPr kumimoji="0" lang="ko-KR" altLang="ko-KR" sz="800" b="0" i="0" u="none" strike="noStrike" cap="none" normalizeH="0" baseline="0" dirty="0" err="1" smtClean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URL에</a:t>
            </a:r>
            <a:r>
              <a:rPr kumimoji="0" lang="ko-KR" altLang="ko-KR" sz="800" b="0" i="0" u="none" strike="noStrike" cap="none" normalizeH="0" baseline="0" dirty="0" smtClean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 붙여서 보내는 구조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7265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28"/>
          <p:cNvSpPr txBox="1">
            <a:spLocks noGrp="1"/>
          </p:cNvSpPr>
          <p:nvPr>
            <p:ph type="ctrTitle"/>
          </p:nvPr>
        </p:nvSpPr>
        <p:spPr>
          <a:xfrm>
            <a:off x="822901" y="629300"/>
            <a:ext cx="7498200" cy="706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dirty="0"/>
              <a:t>5</a:t>
            </a:r>
            <a:r>
              <a:rPr lang="ko" dirty="0" smtClean="0"/>
              <a:t>조</a:t>
            </a:r>
            <a:endParaRPr dirty="0"/>
          </a:p>
        </p:txBody>
      </p:sp>
      <p:sp>
        <p:nvSpPr>
          <p:cNvPr id="252" name="Google Shape;252;p28"/>
          <p:cNvSpPr/>
          <p:nvPr/>
        </p:nvSpPr>
        <p:spPr>
          <a:xfrm>
            <a:off x="1350600" y="1335800"/>
            <a:ext cx="6442800" cy="31800"/>
          </a:xfrm>
          <a:prstGeom prst="rect">
            <a:avLst/>
          </a:prstGeom>
          <a:solidFill>
            <a:srgbClr val="E8E8E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53" name="Google Shape;253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76305" y="1477350"/>
            <a:ext cx="2685850" cy="2188802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p28"/>
          <p:cNvSpPr txBox="1"/>
          <p:nvPr/>
        </p:nvSpPr>
        <p:spPr>
          <a:xfrm>
            <a:off x="183975" y="3775900"/>
            <a:ext cx="8743500" cy="12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>
                <a:solidFill>
                  <a:srgbClr val="E8E8E1"/>
                </a:solidFill>
              </a:rPr>
              <a:t>  디자인 역량을 겸비한 경력직으로 목표로 하고 있기 때문에 프로젝트를 </a:t>
            </a:r>
            <a:r>
              <a:rPr lang="ko" sz="1100" b="1">
                <a:solidFill>
                  <a:srgbClr val="E8E8E1"/>
                </a:solidFill>
              </a:rPr>
              <a:t>단독으로 진행</a:t>
            </a:r>
            <a:r>
              <a:rPr lang="ko" sz="1100">
                <a:solidFill>
                  <a:srgbClr val="E8E8E1"/>
                </a:solidFill>
              </a:rPr>
              <a:t>하였으나, 예상치 못한 </a:t>
            </a:r>
            <a:r>
              <a:rPr lang="ko" sz="1100" b="1">
                <a:solidFill>
                  <a:srgbClr val="E8E8E1"/>
                </a:solidFill>
              </a:rPr>
              <a:t>구현상의 문제들이 다수 발생</a:t>
            </a:r>
            <a:r>
              <a:rPr lang="ko" sz="1100">
                <a:solidFill>
                  <a:srgbClr val="E8E8E1"/>
                </a:solidFill>
              </a:rPr>
              <a:t>했습니다. 특히 </a:t>
            </a:r>
            <a:r>
              <a:rPr lang="ko" sz="1100" b="1">
                <a:solidFill>
                  <a:srgbClr val="E8E8E1"/>
                </a:solidFill>
              </a:rPr>
              <a:t>자바스크립트 로직과 CSS 애니메이션 간의 충돌</a:t>
            </a:r>
            <a:r>
              <a:rPr lang="ko" sz="1100">
                <a:solidFill>
                  <a:srgbClr val="E8E8E1"/>
                </a:solidFill>
              </a:rPr>
              <a:t>, </a:t>
            </a:r>
            <a:r>
              <a:rPr lang="ko" sz="1100" b="1">
                <a:solidFill>
                  <a:srgbClr val="E8E8E1"/>
                </a:solidFill>
              </a:rPr>
              <a:t>이미지 로딩 타이밍 오류</a:t>
            </a:r>
            <a:r>
              <a:rPr lang="ko" sz="1100">
                <a:solidFill>
                  <a:srgbClr val="E8E8E1"/>
                </a:solidFill>
              </a:rPr>
              <a:t> 등으로 인해 인터랙션들이 매끄럽지 않았습니다. 이를 해결하기 위해 </a:t>
            </a:r>
            <a:r>
              <a:rPr lang="ko" sz="1100" b="1">
                <a:solidFill>
                  <a:srgbClr val="E8E8E1"/>
                </a:solidFill>
              </a:rPr>
              <a:t>스크립트 로딩 순서를 최적화하고 렌더링 타이밍을 세밀하게 조정</a:t>
            </a:r>
            <a:r>
              <a:rPr lang="ko" sz="1100">
                <a:solidFill>
                  <a:srgbClr val="E8E8E1"/>
                </a:solidFill>
              </a:rPr>
              <a:t>하여 성능과 완성도를 높였습니다.</a:t>
            </a:r>
            <a:endParaRPr sz="1100">
              <a:solidFill>
                <a:srgbClr val="E8E8E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>
                <a:solidFill>
                  <a:srgbClr val="E8E8E1"/>
                </a:solidFill>
              </a:rPr>
              <a:t>  GitHub 역량을 성장시키기 위해 여러 계정으로 repository를 관리하고, branch를 만들고 merge하는 과정에서 어려움을 겪었습니다. 특히 pull을 받거나 push할 때 충돌(conflict)이 발생하면 해결 방법을 몰라 시간을 허비하기도 했습니다. 하지만 관련 문서와 튜토리얼을 참고하며 충돌을 직접 해결하고, branch 전략을 체계적으로 적용하면서 GitHub 활용 능력을 크게 향상시킬 수 있었습니다.</a:t>
            </a:r>
            <a:endParaRPr sz="1100">
              <a:solidFill>
                <a:srgbClr val="E8E8E1"/>
              </a:solidFill>
            </a:endParaRPr>
          </a:p>
        </p:txBody>
      </p:sp>
      <p:sp>
        <p:nvSpPr>
          <p:cNvPr id="255" name="Google Shape;255;p28"/>
          <p:cNvSpPr txBox="1"/>
          <p:nvPr/>
        </p:nvSpPr>
        <p:spPr>
          <a:xfrm>
            <a:off x="4686249" y="2187627"/>
            <a:ext cx="3634851" cy="11720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rgbClr val="F7F7F7"/>
              </a:buClr>
              <a:buSzPts val="1200"/>
              <a:buChar char="●"/>
            </a:pPr>
            <a:r>
              <a:rPr lang="ko" sz="1200" dirty="0" smtClean="0">
                <a:solidFill>
                  <a:srgbClr val="F7F7F7"/>
                </a:solidFill>
              </a:rPr>
              <a:t>기획 / 디자인</a:t>
            </a:r>
            <a:endParaRPr lang="en-US" altLang="ko" sz="1200" dirty="0" smtClean="0">
              <a:solidFill>
                <a:srgbClr val="F7F7F7"/>
              </a:solidFill>
            </a:endParaRPr>
          </a:p>
          <a:p>
            <a:pPr marL="457200" lvl="0" indent="-304800">
              <a:buClr>
                <a:srgbClr val="F7F7F7"/>
              </a:buClr>
              <a:buSzPts val="1200"/>
              <a:buChar char="●"/>
            </a:pPr>
            <a:r>
              <a:rPr lang="en-US" altLang="ko-KR" sz="1200" dirty="0" smtClean="0">
                <a:solidFill>
                  <a:srgbClr val="F7F7F7"/>
                </a:solidFill>
              </a:rPr>
              <a:t>UI / UX</a:t>
            </a:r>
            <a:r>
              <a:rPr lang="ko-KR" altLang="en-US" sz="1200" dirty="0" smtClean="0">
                <a:solidFill>
                  <a:srgbClr val="F7F7F7"/>
                </a:solidFill>
              </a:rPr>
              <a:t> </a:t>
            </a:r>
            <a:r>
              <a:rPr lang="ko-KR" altLang="en-US" sz="1200" dirty="0">
                <a:solidFill>
                  <a:srgbClr val="F7F7F7"/>
                </a:solidFill>
              </a:rPr>
              <a:t>및 사용자 흐름 설계</a:t>
            </a:r>
            <a:endParaRPr sz="1200" dirty="0" smtClean="0">
              <a:solidFill>
                <a:srgbClr val="F7F7F7"/>
              </a:solidFill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rgbClr val="F7F7F7"/>
              </a:buClr>
              <a:buSzPts val="1200"/>
              <a:buChar char="●"/>
            </a:pPr>
            <a:r>
              <a:rPr lang="ko" sz="1200" dirty="0" smtClean="0">
                <a:solidFill>
                  <a:srgbClr val="F7F7F7"/>
                </a:solidFill>
              </a:rPr>
              <a:t>콘텐츠 개발</a:t>
            </a:r>
            <a:endParaRPr sz="1200" dirty="0" smtClean="0">
              <a:solidFill>
                <a:srgbClr val="F7F7F7"/>
              </a:solidFill>
            </a:endParaRPr>
          </a:p>
          <a:p>
            <a:pPr marL="457200" lvl="0" indent="-304800">
              <a:buClr>
                <a:srgbClr val="F7F7F7"/>
              </a:buClr>
              <a:buSzPts val="1200"/>
              <a:buChar char="●"/>
            </a:pPr>
            <a:r>
              <a:rPr lang="ko" sz="1200" dirty="0" smtClean="0">
                <a:solidFill>
                  <a:srgbClr val="F7F7F7"/>
                </a:solidFill>
              </a:rPr>
              <a:t>프론트엔드 개발 (</a:t>
            </a:r>
            <a:r>
              <a:rPr lang="en-US" altLang="ko" sz="1200" dirty="0">
                <a:solidFill>
                  <a:srgbClr val="F7F7F7"/>
                </a:solidFill>
              </a:rPr>
              <a:t>JavaScript</a:t>
            </a:r>
            <a:r>
              <a:rPr lang="ko" sz="1200" dirty="0" smtClean="0">
                <a:solidFill>
                  <a:srgbClr val="F7F7F7"/>
                </a:solidFill>
              </a:rPr>
              <a:t>, JQuery )</a:t>
            </a:r>
            <a:endParaRPr sz="1200" dirty="0" smtClean="0">
              <a:solidFill>
                <a:srgbClr val="F7F7F7"/>
              </a:solidFill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rgbClr val="F7F7F7"/>
              </a:buClr>
              <a:buSzPts val="1200"/>
              <a:buChar char="●"/>
            </a:pPr>
            <a:r>
              <a:rPr lang="ko" sz="1200" dirty="0" smtClean="0">
                <a:solidFill>
                  <a:srgbClr val="F7F7F7"/>
                </a:solidFill>
              </a:rPr>
              <a:t>GitHub 배포 및 관리</a:t>
            </a:r>
            <a:endParaRPr sz="1200" dirty="0">
              <a:solidFill>
                <a:srgbClr val="F7F7F7"/>
              </a:solidFill>
            </a:endParaRPr>
          </a:p>
        </p:txBody>
      </p:sp>
      <p:sp>
        <p:nvSpPr>
          <p:cNvPr id="7" name="Google Shape;255;p28"/>
          <p:cNvSpPr txBox="1"/>
          <p:nvPr/>
        </p:nvSpPr>
        <p:spPr>
          <a:xfrm>
            <a:off x="4686249" y="1765289"/>
            <a:ext cx="2921995" cy="3682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2400" lvl="0">
              <a:buClr>
                <a:srgbClr val="F7F7F7"/>
              </a:buClr>
              <a:buSzPts val="1200"/>
            </a:pPr>
            <a:r>
              <a:rPr lang="ko-KR" altLang="en-US" sz="1600" b="1" dirty="0" err="1" smtClean="0">
                <a:solidFill>
                  <a:srgbClr val="F7F7F7"/>
                </a:solidFill>
              </a:rPr>
              <a:t>최서하</a:t>
            </a:r>
            <a:r>
              <a:rPr lang="ko-KR" altLang="en-US" sz="1600" b="1" dirty="0" smtClean="0">
                <a:solidFill>
                  <a:srgbClr val="F7F7F7"/>
                </a:solidFill>
              </a:rPr>
              <a:t> </a:t>
            </a:r>
            <a:r>
              <a:rPr lang="en-US" altLang="ko-KR" sz="1600" b="1" dirty="0">
                <a:solidFill>
                  <a:srgbClr val="F7F7F7"/>
                </a:solidFill>
              </a:rPr>
              <a:t>: Project Director</a:t>
            </a:r>
            <a:endParaRPr sz="1600" b="1" dirty="0">
              <a:solidFill>
                <a:srgbClr val="F7F7F7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29"/>
          <p:cNvSpPr txBox="1">
            <a:spLocks noGrp="1"/>
          </p:cNvSpPr>
          <p:nvPr>
            <p:ph type="ctrTitle"/>
          </p:nvPr>
        </p:nvSpPr>
        <p:spPr>
          <a:xfrm>
            <a:off x="822901" y="2451425"/>
            <a:ext cx="7498200" cy="706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4800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4800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dirty="0" err="1" smtClean="0"/>
              <a:t>QnA</a:t>
            </a:r>
            <a:endParaRPr sz="4800" dirty="0"/>
          </a:p>
        </p:txBody>
      </p:sp>
      <p:sp>
        <p:nvSpPr>
          <p:cNvPr id="261" name="Google Shape;261;p29"/>
          <p:cNvSpPr/>
          <p:nvPr/>
        </p:nvSpPr>
        <p:spPr>
          <a:xfrm>
            <a:off x="1350600" y="3287125"/>
            <a:ext cx="6442800" cy="31800"/>
          </a:xfrm>
          <a:prstGeom prst="rect">
            <a:avLst/>
          </a:prstGeom>
          <a:solidFill>
            <a:srgbClr val="E8E8E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29"/>
          <p:cNvSpPr txBox="1">
            <a:spLocks noGrp="1"/>
          </p:cNvSpPr>
          <p:nvPr>
            <p:ph type="ctrTitle"/>
          </p:nvPr>
        </p:nvSpPr>
        <p:spPr>
          <a:xfrm>
            <a:off x="822901" y="2451425"/>
            <a:ext cx="7498200" cy="706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4800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4800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4800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4800" dirty="0"/>
              <a:t>감사합니다.</a:t>
            </a:r>
            <a:endParaRPr sz="2400" dirty="0"/>
          </a:p>
        </p:txBody>
      </p:sp>
      <p:sp>
        <p:nvSpPr>
          <p:cNvPr id="261" name="Google Shape;261;p29"/>
          <p:cNvSpPr/>
          <p:nvPr/>
        </p:nvSpPr>
        <p:spPr>
          <a:xfrm>
            <a:off x="1350600" y="3287125"/>
            <a:ext cx="6442800" cy="31800"/>
          </a:xfrm>
          <a:prstGeom prst="rect">
            <a:avLst/>
          </a:prstGeom>
          <a:solidFill>
            <a:srgbClr val="E8E8E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313156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Simple Dark">
  <a:themeElements>
    <a:clrScheme name="Simple Dark">
      <a:dk1>
        <a:srgbClr val="FFFFFF"/>
      </a:dk1>
      <a:lt1>
        <a:srgbClr val="212121"/>
      </a:lt1>
      <a:dk2>
        <a:srgbClr val="303030"/>
      </a:dk2>
      <a:lt2>
        <a:srgbClr val="ADADAD"/>
      </a:lt2>
      <a:accent1>
        <a:srgbClr val="009688"/>
      </a:accent1>
      <a:accent2>
        <a:srgbClr val="EEEEEE"/>
      </a:accent2>
      <a:accent3>
        <a:srgbClr val="78909C"/>
      </a:accent3>
      <a:accent4>
        <a:srgbClr val="FFAB40"/>
      </a:accent4>
      <a:accent5>
        <a:srgbClr val="4DD0E1"/>
      </a:accent5>
      <a:accent6>
        <a:srgbClr val="EEFF41"/>
      </a:accent6>
      <a:hlink>
        <a:srgbClr val="4DD0E1"/>
      </a:hlink>
      <a:folHlink>
        <a:srgbClr val="4DD0E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73</TotalTime>
  <Words>1271</Words>
  <Application>Microsoft Office PowerPoint</Application>
  <PresentationFormat>화면 슬라이드 쇼(16:9)</PresentationFormat>
  <Paragraphs>197</Paragraphs>
  <Slides>18</Slides>
  <Notes>18</Notes>
  <HiddenSlides>0</HiddenSlides>
  <MMClips>5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18</vt:i4>
      </vt:variant>
    </vt:vector>
  </HeadingPairs>
  <TitlesOfParts>
    <vt:vector size="22" baseType="lpstr">
      <vt:lpstr>맑은 고딕</vt:lpstr>
      <vt:lpstr>Arial</vt:lpstr>
      <vt:lpstr>Consolas</vt:lpstr>
      <vt:lpstr>Simple Dark</vt:lpstr>
      <vt:lpstr>5조 : 최서하</vt:lpstr>
      <vt:lpstr> Contents</vt:lpstr>
      <vt:lpstr> 프로젝트 소개</vt:lpstr>
      <vt:lpstr> 프로젝트 소개</vt:lpstr>
      <vt:lpstr> 프로젝트 소개</vt:lpstr>
      <vt:lpstr> 2.  상세기획 개요</vt:lpstr>
      <vt:lpstr> 2.  상세기획 개요</vt:lpstr>
      <vt:lpstr> 2.  상세기획 개요</vt:lpstr>
      <vt:lpstr> 2.  상세기획 개요</vt:lpstr>
      <vt:lpstr> 2.  상세기획 개요</vt:lpstr>
      <vt:lpstr>실제 구현 사이트</vt:lpstr>
      <vt:lpstr>3.  기능소개 - 스크린체인지</vt:lpstr>
      <vt:lpstr>3.  기능소개 - 랜덤향수추천</vt:lpstr>
      <vt:lpstr>3.  기능소개 - 메일전송 (서버이용)</vt:lpstr>
      <vt:lpstr>3.  기능소개 - 실시간길찾기</vt:lpstr>
      <vt:lpstr>  5조</vt:lpstr>
      <vt:lpstr>  QnA</vt:lpstr>
      <vt:lpstr>   감사합니다.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5조 : 최서하</dc:title>
  <dc:creator>LINE</dc:creator>
  <cp:lastModifiedBy>LINE</cp:lastModifiedBy>
  <cp:revision>10</cp:revision>
  <dcterms:modified xsi:type="dcterms:W3CDTF">2025-10-31T02:10:54Z</dcterms:modified>
</cp:coreProperties>
</file>